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tter SemiBold"/>
      <p:regular r:id="rId201314"/>
    </p:embeddedFont>
    <p:embeddedFont>
      <p:font typeface="Bitter"/>
      <p:regular r:id="rId201315"/>
    </p:embeddedFont>
    <p:embeddedFont>
      <p:font typeface="Bitter Bold"/>
      <p:regular r:id="rId201316"/>
    </p:embeddedFont>
    <p:embeddedFont>
      <p:font typeface="Jost"/>
      <p:regular r:id="rId201317"/>
    </p:embeddedFont>
    <p:embeddedFont>
      <p:font typeface="Jost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idea: applications accept input, but databases interpret instructions. For a beginner, compare the database to a very literal assistant. If we hand it a complete sentence, it follows the sentence. If we accidentally let a visitor edit the sentence itself, the visitor can change the task. This deck moves from the normal application flow to the failure mode, then through a safe lab example, a real case study, detection, and layered prevention. The goal is understanding and defense, not practicing against systems we do not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browser sends a form value, the web server receives the request, application code decides what database operation to perform, and the database returns rows or a failure. SQL is text that describes a question, such as selecting a user where a username matches. The important boundary is application code: it must keep the user’s value separate from the SQL structure. Think of a train ticket machine. Your destination is cargo, while the machine’s operating instructions are the track system. A safe application never lets the destination rewrite the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panels to make the distinction visible. In the safe version, the SQL statement is fixed and the username is a value delivered through a separate channel. In the risky version, the program manufactures one long sentence by joining pieces of text. A beginner analogy is a form letter with a blank field. If the blank is inserted into a protected envelope, it stays a blank. If it is pasted into the instructions for assembling the letter, punctuation in the blank can change the instructions. Missing validation can worsen the risk, and an over-privileged database account increases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“family” describes how information comes back, not how serious the issue is. In-band is easiest to recognize because the page visibly changes or exposes an error. Blind injection is like asking yes-or-no questions in a dark room and learning from a door opening, a different page, or a delay. Out-of-band uses another route, such as a DNS lookup, when the application does not return useful results directly. For defenders, the response channel changes what telemetry matters. A quiet page still deserves investigation when logs, timing, or outbound requests look unusual.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chain, not a recipe. The stages describe what defenders should anticipate and instrument. First, an input reaches a database-backed path. Then unusual syntax or conditions may reveal whether the input is interpreted. The attacker may learn database details, attempt access to records, and finally look for broader privileges or adjacent systems. Under every stage is a detection point because prevention is not the only control. Think of airport security: identity checks, screening, cameras, and restricted doors each interrupt a different part of the journey. One missed control does not have to become a full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boundary before discussing the example. Use an intentionally vulnerable practice application such as OWASP Juice Shop or DVWA on your own machine, or a system where you have written permission. The point is not to memorize a bypass string. The point is to compare two code paths. In the vulnerable path, the application builds one SQL sentence from code and input. In the fixed path, placeholders keep the statement structure separate. The same text then becomes ordinary data. A useful analogy is a locked form: the visitor can fill the fields, but cannot edit the form’s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case study precise and attributed. The brief cites a 2009 indictment alleging SQL injection as an entry route into Heartland, Hannaford, 7-Eleven, and other retailers, with about 130 million credit and debit card numbers allegedly stolen. The important teaching point is the sequence after entry: attackers allegedly planted packet-sniffing tools to capture card data. For beginners, compare the first weakness to an unlocked side door. The door is not the whole theft, but it changes what becomes possible inside. Network segmentation, least privilege, and monitoring limit that blast radius.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impact from detection so the slide does not become a fear list. Impact can include stolen customer data, altered records, downtime, fines, and lost trust. Detection looks for behavior: web application firewall alerts, unusual quotes or SQL keywords in logs, database error spikes, and slow-response patterns. Testing is complementary: code review finds design mistakes, SAST examines source, DAST exercises a running application, and authorized penetration tests validate the boundary. sqlmap belongs only in authorized labs. An analogy helps: prevention is a locked window; detection is the alarm that tells you someone is testing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strongest control: parameterized queries and prepared statements keep code and data separate. Allow-list validation is useful when the application must vary query structure, such as choosing a column name, because values cannot safely stand in for every SQL element. Least privilege limits what the database account can read or change. Safe ORM use, generic error messages, WAF protection, patching, and regular testing add resilience, but they do not replace correct query construction. Think of a building with locked rooms, visitor badges, cameras, and sprinklers. Good security assumes one layer can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turning the topic into a learning path. OWASP’s Top 10 places Injection at A03 in the 2021 list, and the Cheat Sheet Series gives practical defensive guidance. PortSwigger Web Security Academy, OWASP Juice Shop, and DVWA provide structured practice environments. Once SQL injection is clear, the same boundary question appears in NoSQL and ORM injection, API security, secure-by-design pipelines, and DevSecOps. Invite questions by returning to the core distinction: what is instruction, what is data, and what control keeps them separate? The best next step is an authorized lab and a careful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710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0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7102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710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582837"/>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FFFFFF"/>
                </a:solidFill>
                <a:latin typeface="Bitter" pitchFamily="34" charset="0"/>
                <a:ea typeface="Bitter" pitchFamily="34" charset="-122"/>
                <a:cs typeface="Bitter" pitchFamily="34" charset="0"/>
              </a:rPr>
              <a:t>CYBERSECURITY FOUNDATIONS</a:t>
            </a:r>
            <a:endParaRPr lang="en-US" sz="1050" dirty="0"/>
          </a:p>
        </p:txBody>
      </p:sp>
      <p:sp>
        <p:nvSpPr>
          <p:cNvPr id="3" name="Text 1"/>
          <p:cNvSpPr/>
          <p:nvPr/>
        </p:nvSpPr>
        <p:spPr>
          <a:xfrm>
            <a:off x="609585" y="1936155"/>
            <a:ext cx="10972526" cy="2819400"/>
          </a:xfrm>
          <a:prstGeom prst="rect">
            <a:avLst/>
          </a:prstGeom>
          <a:noFill/>
          <a:ln/>
        </p:spPr>
        <p:txBody>
          <a:bodyPr wrap="square" lIns="0" tIns="0" rIns="0" bIns="0" rtlCol="0" anchor="t">
            <a:normAutofit/>
          </a:bodyPr>
          <a:lstStyle/>
          <a:p>
            <a:pPr algn="l" indent="0" marL="0">
              <a:lnSpc>
                <a:spcPct val="83000"/>
              </a:lnSpc>
              <a:buNone/>
            </a:pPr>
            <a:r>
              <a:rPr lang="en-US" sz="7400" dirty="0">
                <a:solidFill>
                  <a:srgbClr val="FFFFFF"/>
                </a:solidFill>
                <a:latin typeface="Jost" pitchFamily="34" charset="0"/>
                <a:ea typeface="Jost" pitchFamily="34" charset="-122"/>
                <a:cs typeface="Jost" pitchFamily="34" charset="0"/>
              </a:rPr>
              <a:t>SQL Injection:</a:t>
            </a:r>
            <a:endParaRPr lang="en-US" sz="7400" dirty="0"/>
          </a:p>
          <a:p>
            <a:pPr algn="l" indent="0" marL="0">
              <a:lnSpc>
                <a:spcPct val="83000"/>
              </a:lnSpc>
              <a:buNone/>
            </a:pPr>
            <a:r>
              <a:rPr lang="en-US" sz="7400" dirty="0">
                <a:solidFill>
                  <a:srgbClr val="FFFFFF"/>
                </a:solidFill>
                <a:latin typeface="Jost" pitchFamily="34" charset="0"/>
                <a:ea typeface="Jost" pitchFamily="34" charset="-122"/>
                <a:cs typeface="Jost" pitchFamily="34" charset="0"/>
              </a:rPr>
              <a:t>When Input Becomes Instructions</a:t>
            </a:r>
            <a:endParaRPr lang="en-US" sz="7400" dirty="0"/>
          </a:p>
        </p:txBody>
      </p:sp>
      <p:sp>
        <p:nvSpPr>
          <p:cNvPr id="4" name="Text 2"/>
          <p:cNvSpPr/>
          <p:nvPr/>
        </p:nvSpPr>
        <p:spPr>
          <a:xfrm>
            <a:off x="609585" y="4839692"/>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How a small input can rewrite a database conversation.</a:t>
            </a:r>
            <a:endParaRPr lang="en-US" sz="1400" dirty="0"/>
          </a:p>
        </p:txBody>
      </p:sp>
      <p:sp>
        <p:nvSpPr>
          <p:cNvPr id="5" name="Text 3"/>
          <p:cNvSpPr/>
          <p:nvPr/>
        </p:nvSpPr>
        <p:spPr>
          <a:xfrm>
            <a:off x="609585" y="6061770"/>
            <a:ext cx="11582110" cy="186630"/>
          </a:xfrm>
          <a:prstGeom prst="rect">
            <a:avLst/>
          </a:prstGeom>
          <a:noFill/>
          <a:ln/>
        </p:spPr>
        <p:txBody>
          <a:bodyPr wrap="none" lIns="0" tIns="0" rIns="0" bIns="0" rtlCol="0" anchor="t"/>
          <a:lstStyle/>
          <a:p>
            <a:pPr algn="l" indent="0" marL="0">
              <a:lnSpc>
                <a:spcPct val="117000"/>
              </a:lnSpc>
              <a:buNone/>
            </a:pPr>
            <a:r>
              <a:rPr lang="en-US" sz="1050" dirty="0">
                <a:solidFill>
                  <a:srgbClr val="FFFFFF"/>
                </a:solidFill>
                <a:latin typeface="Bitter" pitchFamily="34" charset="0"/>
                <a:ea typeface="Bitter" pitchFamily="34" charset="-122"/>
                <a:cs typeface="Bitter" pitchFamily="34" charset="0"/>
              </a:rPr>
              <a:t>A visual primer for first-year engineers and cybersecurity clubs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01 — THE NORMAL PATH</a:t>
            </a:r>
            <a:endParaRPr lang="en-US" sz="1050" dirty="0"/>
          </a:p>
        </p:txBody>
      </p:sp>
      <p:sp>
        <p:nvSpPr>
          <p:cNvPr id="3" name="Text 1"/>
          <p:cNvSpPr/>
          <p:nvPr/>
        </p:nvSpPr>
        <p:spPr>
          <a:xfrm>
            <a:off x="609585" y="929580"/>
            <a:ext cx="10972526"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How a web app talks to its database</a:t>
            </a:r>
            <a:endParaRPr lang="en-US" sz="5000" dirty="0"/>
          </a:p>
        </p:txBody>
      </p:sp>
      <p:sp>
        <p:nvSpPr>
          <p:cNvPr id="4" name="Text 2"/>
          <p:cNvSpPr/>
          <p:nvPr/>
        </p:nvSpPr>
        <p:spPr>
          <a:xfrm>
            <a:off x="609585" y="1682055"/>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A login form becomes a SQL query: text where SELECT chooses data and WHERE filters it.</a:t>
            </a:r>
            <a:endParaRPr lang="en-US" sz="1400" dirty="0"/>
          </a:p>
        </p:txBody>
      </p:sp>
      <p:pic>
        <p:nvPicPr>
          <p:cNvPr id="5" name="Image 0" descr="preencoded.png">    </p:cNvPr>
          <p:cNvPicPr>
            <a:picLocks noChangeAspect="1"/>
          </p:cNvPicPr>
          <p:nvPr/>
        </p:nvPicPr>
        <p:blipFill>
          <a:blip r:embed="rId1"/>
          <a:stretch>
            <a:fillRect/>
          </a:stretch>
        </p:blipFill>
        <p:spPr>
          <a:xfrm>
            <a:off x="2414626" y="2089646"/>
            <a:ext cx="7362442" cy="3174901"/>
          </a:xfrm>
          <a:prstGeom prst="rect">
            <a:avLst/>
          </a:prstGeom>
        </p:spPr>
      </p:pic>
      <p:sp>
        <p:nvSpPr>
          <p:cNvPr id="6" name="Text 3"/>
          <p:cNvSpPr/>
          <p:nvPr/>
        </p:nvSpPr>
        <p:spPr>
          <a:xfrm>
            <a:off x="2911897" y="2476405"/>
            <a:ext cx="4048787" cy="183525"/>
          </a:xfrm>
          <a:prstGeom prst="rect">
            <a:avLst/>
          </a:prstGeom>
          <a:noFill/>
          <a:ln/>
        </p:spPr>
        <p:txBody>
          <a:bodyPr wrap="none" lIns="0" tIns="0" rIns="0" bIns="0" rtlCol="0" anchor="t"/>
          <a:lstStyle/>
          <a:p>
            <a:pPr algn="l" indent="0" marL="0">
              <a:lnSpc>
                <a:spcPct val="92000"/>
              </a:lnSpc>
              <a:buNone/>
            </a:pPr>
            <a:r>
              <a:rPr lang="en-US" sz="1300" dirty="0">
                <a:solidFill>
                  <a:srgbClr val="FFFFFF"/>
                </a:solidFill>
                <a:latin typeface="Jost" pitchFamily="34" charset="0"/>
                <a:ea typeface="Jost" pitchFamily="34" charset="-122"/>
                <a:cs typeface="Jost" pitchFamily="34" charset="0"/>
              </a:rPr>
              <a:t>Browser</a:t>
            </a:r>
            <a:endParaRPr lang="en-US" sz="1300" dirty="0"/>
          </a:p>
        </p:txBody>
      </p:sp>
      <p:sp>
        <p:nvSpPr>
          <p:cNvPr id="7" name="Text 4"/>
          <p:cNvSpPr/>
          <p:nvPr/>
        </p:nvSpPr>
        <p:spPr>
          <a:xfrm>
            <a:off x="2911897" y="3212650"/>
            <a:ext cx="4048787" cy="183525"/>
          </a:xfrm>
          <a:prstGeom prst="rect">
            <a:avLst/>
          </a:prstGeom>
          <a:noFill/>
          <a:ln/>
        </p:spPr>
        <p:txBody>
          <a:bodyPr wrap="none" lIns="0" tIns="0" rIns="0" bIns="0" rtlCol="0" anchor="t"/>
          <a:lstStyle/>
          <a:p>
            <a:pPr algn="l" indent="0" marL="0">
              <a:lnSpc>
                <a:spcPct val="92000"/>
              </a:lnSpc>
              <a:buNone/>
            </a:pPr>
            <a:r>
              <a:rPr lang="en-US" sz="1300" dirty="0">
                <a:solidFill>
                  <a:srgbClr val="FFFFFF"/>
                </a:solidFill>
                <a:latin typeface="Jost" pitchFamily="34" charset="0"/>
                <a:ea typeface="Jost" pitchFamily="34" charset="-122"/>
                <a:cs typeface="Jost" pitchFamily="34" charset="0"/>
              </a:rPr>
              <a:t>Web Server</a:t>
            </a:r>
            <a:endParaRPr lang="en-US" sz="1300" dirty="0"/>
          </a:p>
        </p:txBody>
      </p:sp>
      <p:sp>
        <p:nvSpPr>
          <p:cNvPr id="8" name="Text 5"/>
          <p:cNvSpPr/>
          <p:nvPr/>
        </p:nvSpPr>
        <p:spPr>
          <a:xfrm>
            <a:off x="2911897" y="3941533"/>
            <a:ext cx="4048787" cy="183524"/>
          </a:xfrm>
          <a:prstGeom prst="rect">
            <a:avLst/>
          </a:prstGeom>
          <a:noFill/>
          <a:ln/>
        </p:spPr>
        <p:txBody>
          <a:bodyPr wrap="none" lIns="0" tIns="0" rIns="0" bIns="0" rtlCol="0" anchor="t"/>
          <a:lstStyle/>
          <a:p>
            <a:pPr algn="l" indent="0" marL="0">
              <a:lnSpc>
                <a:spcPct val="92000"/>
              </a:lnSpc>
              <a:buNone/>
            </a:pPr>
            <a:r>
              <a:rPr lang="en-US" sz="1300" dirty="0">
                <a:solidFill>
                  <a:srgbClr val="FFFFFF"/>
                </a:solidFill>
                <a:latin typeface="Jost" pitchFamily="34" charset="0"/>
                <a:ea typeface="Jost" pitchFamily="34" charset="-122"/>
                <a:cs typeface="Jost" pitchFamily="34" charset="0"/>
              </a:rPr>
              <a:t>Application Code</a:t>
            </a:r>
            <a:endParaRPr lang="en-US" sz="1300" dirty="0"/>
          </a:p>
        </p:txBody>
      </p:sp>
      <p:sp>
        <p:nvSpPr>
          <p:cNvPr id="9" name="Text 6"/>
          <p:cNvSpPr/>
          <p:nvPr/>
        </p:nvSpPr>
        <p:spPr>
          <a:xfrm>
            <a:off x="2911897" y="4670416"/>
            <a:ext cx="4048787" cy="183524"/>
          </a:xfrm>
          <a:prstGeom prst="rect">
            <a:avLst/>
          </a:prstGeom>
          <a:noFill/>
          <a:ln/>
        </p:spPr>
        <p:txBody>
          <a:bodyPr wrap="none" lIns="0" tIns="0" rIns="0" bIns="0" rtlCol="0" anchor="t"/>
          <a:lstStyle/>
          <a:p>
            <a:pPr algn="l" indent="0" marL="0">
              <a:lnSpc>
                <a:spcPct val="92000"/>
              </a:lnSpc>
              <a:buNone/>
            </a:pPr>
            <a:r>
              <a:rPr lang="en-US" sz="1300" dirty="0">
                <a:solidFill>
                  <a:srgbClr val="FFFFFF"/>
                </a:solidFill>
                <a:latin typeface="Jost" pitchFamily="34" charset="0"/>
                <a:ea typeface="Jost" pitchFamily="34" charset="-122"/>
                <a:cs typeface="Jost" pitchFamily="34" charset="0"/>
              </a:rPr>
              <a:t>Database</a:t>
            </a:r>
            <a:endParaRPr lang="en-US" sz="1300" dirty="0"/>
          </a:p>
        </p:txBody>
      </p:sp>
      <p:sp>
        <p:nvSpPr>
          <p:cNvPr id="10" name="Shape 7"/>
          <p:cNvSpPr/>
          <p:nvPr/>
        </p:nvSpPr>
        <p:spPr>
          <a:xfrm>
            <a:off x="609585" y="5467747"/>
            <a:ext cx="10972526" cy="19050"/>
          </a:xfrm>
          <a:prstGeom prst="roundRect">
            <a:avLst>
              <a:gd name="adj" fmla="val 49999"/>
            </a:avLst>
          </a:prstGeom>
          <a:solidFill>
            <a:srgbClr val="4A3670"/>
          </a:solidFill>
          <a:ln/>
        </p:spPr>
      </p:sp>
      <p:sp>
        <p:nvSpPr>
          <p:cNvPr id="11" name="Text 8"/>
          <p:cNvSpPr/>
          <p:nvPr/>
        </p:nvSpPr>
        <p:spPr>
          <a:xfrm>
            <a:off x="609585" y="5689997"/>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if input is glued into the query, input can change the query.</a:t>
            </a:r>
            <a:endParaRPr lang="en-US" sz="1400" dirty="0"/>
          </a:p>
        </p:txBody>
      </p:sp>
      <p:sp>
        <p:nvSpPr>
          <p:cNvPr id="12" name="Text 9"/>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13" name="Text 10"/>
          <p:cNvSpPr/>
          <p:nvPr/>
        </p:nvSpPr>
        <p:spPr>
          <a:xfrm>
            <a:off x="11946135" y="6466086"/>
            <a:ext cx="24556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02 — THE FAILURE MODE</a:t>
            </a:r>
            <a:endParaRPr lang="en-US" sz="1050" dirty="0"/>
          </a:p>
        </p:txBody>
      </p:sp>
      <p:sp>
        <p:nvSpPr>
          <p:cNvPr id="3" name="Text 1"/>
          <p:cNvSpPr/>
          <p:nvPr/>
        </p:nvSpPr>
        <p:spPr>
          <a:xfrm>
            <a:off x="609585" y="929580"/>
            <a:ext cx="10972526" cy="1270000"/>
          </a:xfrm>
          <a:prstGeom prst="rect">
            <a:avLst/>
          </a:prstGeom>
          <a:noFill/>
          <a:ln/>
        </p:spPr>
        <p:txBody>
          <a:bodyPr wrap="square" lIns="0" tIns="0" rIns="0" bIns="0" rtlCol="0" anchor="t">
            <a:normAutofit/>
          </a:bodyPr>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Untrusted data becomes part of the query’s syntax</a:t>
            </a:r>
            <a:endParaRPr lang="en-US" sz="5000" dirty="0"/>
          </a:p>
        </p:txBody>
      </p:sp>
      <p:sp>
        <p:nvSpPr>
          <p:cNvPr id="4" name="Shape 2"/>
          <p:cNvSpPr/>
          <p:nvPr/>
        </p:nvSpPr>
        <p:spPr>
          <a:xfrm>
            <a:off x="609585" y="2317055"/>
            <a:ext cx="5333867" cy="3041749"/>
          </a:xfrm>
          <a:prstGeom prst="roundRect">
            <a:avLst>
              <a:gd name="adj" fmla="val 376"/>
            </a:avLst>
          </a:prstGeom>
          <a:noFill/>
          <a:ln w="19050">
            <a:solidFill>
              <a:srgbClr val="302944"/>
            </a:solidFill>
            <a:prstDash val="solid"/>
          </a:ln>
        </p:spPr>
      </p:sp>
      <p:sp>
        <p:nvSpPr>
          <p:cNvPr id="5" name="Shape 3"/>
          <p:cNvSpPr/>
          <p:nvPr/>
        </p:nvSpPr>
        <p:spPr>
          <a:xfrm>
            <a:off x="908027" y="2615505"/>
            <a:ext cx="1457090" cy="270173"/>
          </a:xfrm>
          <a:prstGeom prst="roundRect">
            <a:avLst>
              <a:gd name="adj" fmla="val 4231"/>
            </a:avLst>
          </a:prstGeom>
          <a:noFill/>
          <a:ln w="12700">
            <a:solidFill>
              <a:srgbClr val="B79CF5"/>
            </a:solidFill>
            <a:prstDash val="solid"/>
          </a:ln>
        </p:spPr>
      </p:sp>
      <p:sp>
        <p:nvSpPr>
          <p:cNvPr id="6" name="Text 4"/>
          <p:cNvSpPr/>
          <p:nvPr/>
        </p:nvSpPr>
        <p:spPr>
          <a:xfrm>
            <a:off x="1014685" y="2672554"/>
            <a:ext cx="1853360" cy="163612"/>
          </a:xfrm>
          <a:prstGeom prst="rect">
            <a:avLst/>
          </a:prstGeom>
          <a:noFill/>
          <a:ln/>
        </p:spPr>
        <p:txBody>
          <a:bodyPr wrap="none" lIns="0" tIns="0" rIns="0" bIns="0" rtlCol="0" anchor="t"/>
          <a:lstStyle/>
          <a:p>
            <a:pPr algn="l" indent="0" marL="0">
              <a:lnSpc>
                <a:spcPct val="96000"/>
              </a:lnSpc>
              <a:buNone/>
            </a:pPr>
            <a:r>
              <a:rPr lang="en-US" sz="1100" dirty="0">
                <a:solidFill>
                  <a:srgbClr val="B79CF5"/>
                </a:solidFill>
                <a:latin typeface="Bitter" pitchFamily="34" charset="0"/>
                <a:ea typeface="Bitter" pitchFamily="34" charset="-122"/>
                <a:cs typeface="Bitter" pitchFamily="34" charset="0"/>
              </a:rPr>
              <a:t>SAFE SEPARATION</a:t>
            </a:r>
            <a:endParaRPr lang="en-US" sz="1100" dirty="0"/>
          </a:p>
        </p:txBody>
      </p:sp>
      <p:sp>
        <p:nvSpPr>
          <p:cNvPr id="7" name="Text 5"/>
          <p:cNvSpPr/>
          <p:nvPr/>
        </p:nvSpPr>
        <p:spPr>
          <a:xfrm>
            <a:off x="908027" y="2979341"/>
            <a:ext cx="4736981"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0"/>
              </a:rPr>
              <a:t>Parameterized query</a:t>
            </a:r>
            <a:endParaRPr lang="en-US" sz="2000" dirty="0"/>
          </a:p>
        </p:txBody>
      </p:sp>
      <p:sp>
        <p:nvSpPr>
          <p:cNvPr id="8" name="Shape 6"/>
          <p:cNvSpPr/>
          <p:nvPr/>
        </p:nvSpPr>
        <p:spPr>
          <a:xfrm>
            <a:off x="908027" y="3438128"/>
            <a:ext cx="4736981" cy="924520"/>
          </a:xfrm>
          <a:prstGeom prst="roundRect">
            <a:avLst>
              <a:gd name="adj" fmla="val 1236"/>
            </a:avLst>
          </a:prstGeom>
          <a:solidFill>
            <a:srgbClr val="241D38"/>
          </a:solidFill>
          <a:ln/>
        </p:spPr>
      </p:sp>
      <p:sp>
        <p:nvSpPr>
          <p:cNvPr id="9" name="Text 7"/>
          <p:cNvSpPr/>
          <p:nvPr/>
        </p:nvSpPr>
        <p:spPr>
          <a:xfrm>
            <a:off x="1121342" y="3616246"/>
            <a:ext cx="4310352" cy="56892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SELECT id FROM users</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WHERE username = ?;</a:t>
            </a:r>
            <a:endParaRPr lang="en-US" sz="1400" dirty="0"/>
          </a:p>
        </p:txBody>
      </p:sp>
      <p:sp>
        <p:nvSpPr>
          <p:cNvPr id="10" name="Text 8"/>
          <p:cNvSpPr/>
          <p:nvPr/>
        </p:nvSpPr>
        <p:spPr>
          <a:xfrm>
            <a:off x="908027" y="4562673"/>
            <a:ext cx="473698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The value is supplied separately. Quotes inside the value remain data.</a:t>
            </a:r>
            <a:endParaRPr lang="en-US" sz="1400" dirty="0"/>
          </a:p>
        </p:txBody>
      </p:sp>
      <p:sp>
        <p:nvSpPr>
          <p:cNvPr id="11" name="Shape 9"/>
          <p:cNvSpPr/>
          <p:nvPr/>
        </p:nvSpPr>
        <p:spPr>
          <a:xfrm>
            <a:off x="6248244" y="2317055"/>
            <a:ext cx="5333867" cy="3041749"/>
          </a:xfrm>
          <a:prstGeom prst="rect">
            <a:avLst/>
          </a:prstGeom>
          <a:solidFill>
            <a:srgbClr val="4A3670"/>
          </a:solidFill>
          <a:ln/>
        </p:spPr>
      </p:sp>
      <p:sp>
        <p:nvSpPr>
          <p:cNvPr id="12" name="Shape 10"/>
          <p:cNvSpPr/>
          <p:nvPr/>
        </p:nvSpPr>
        <p:spPr>
          <a:xfrm>
            <a:off x="6527637" y="2596455"/>
            <a:ext cx="1850185" cy="270173"/>
          </a:xfrm>
          <a:prstGeom prst="roundRect">
            <a:avLst>
              <a:gd name="adj" fmla="val 4231"/>
            </a:avLst>
          </a:prstGeom>
          <a:solidFill>
            <a:srgbClr val="1E1538"/>
          </a:solidFill>
          <a:ln/>
        </p:spPr>
      </p:sp>
      <p:sp>
        <p:nvSpPr>
          <p:cNvPr id="13" name="Text 11"/>
          <p:cNvSpPr/>
          <p:nvPr/>
        </p:nvSpPr>
        <p:spPr>
          <a:xfrm>
            <a:off x="6634294" y="2653504"/>
            <a:ext cx="2246455" cy="163612"/>
          </a:xfrm>
          <a:prstGeom prst="rect">
            <a:avLst/>
          </a:prstGeom>
          <a:noFill/>
          <a:ln/>
        </p:spPr>
        <p:txBody>
          <a:bodyPr wrap="none" lIns="0" tIns="0" rIns="0" bIns="0" rtlCol="0" anchor="t"/>
          <a:lstStyle/>
          <a:p>
            <a:pPr algn="l" indent="0" marL="0">
              <a:lnSpc>
                <a:spcPct val="96000"/>
              </a:lnSpc>
              <a:buNone/>
            </a:pPr>
            <a:r>
              <a:rPr lang="en-US" sz="1100" dirty="0">
                <a:solidFill>
                  <a:srgbClr val="F2EDFB"/>
                </a:solidFill>
                <a:latin typeface="Bitter" pitchFamily="34" charset="0"/>
                <a:ea typeface="Bitter" pitchFamily="34" charset="-122"/>
                <a:cs typeface="Bitter" pitchFamily="34" charset="0"/>
              </a:rPr>
              <a:t>RISKY CONCATENATION</a:t>
            </a:r>
            <a:endParaRPr lang="en-US" sz="1100" dirty="0"/>
          </a:p>
        </p:txBody>
      </p:sp>
      <p:sp>
        <p:nvSpPr>
          <p:cNvPr id="14" name="Text 12"/>
          <p:cNvSpPr/>
          <p:nvPr/>
        </p:nvSpPr>
        <p:spPr>
          <a:xfrm>
            <a:off x="6527637" y="2960291"/>
            <a:ext cx="4775081"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String-built query</a:t>
            </a:r>
            <a:endParaRPr lang="en-US" sz="2000" dirty="0"/>
          </a:p>
        </p:txBody>
      </p:sp>
      <p:sp>
        <p:nvSpPr>
          <p:cNvPr id="15" name="Shape 13"/>
          <p:cNvSpPr/>
          <p:nvPr/>
        </p:nvSpPr>
        <p:spPr>
          <a:xfrm>
            <a:off x="6527637" y="3419078"/>
            <a:ext cx="4775081" cy="924520"/>
          </a:xfrm>
          <a:prstGeom prst="roundRect">
            <a:avLst>
              <a:gd name="adj" fmla="val 1236"/>
            </a:avLst>
          </a:prstGeom>
          <a:solidFill>
            <a:srgbClr val="241D38"/>
          </a:solidFill>
          <a:ln/>
        </p:spPr>
      </p:sp>
      <p:sp>
        <p:nvSpPr>
          <p:cNvPr id="16" name="Text 14"/>
          <p:cNvSpPr/>
          <p:nvPr/>
        </p:nvSpPr>
        <p:spPr>
          <a:xfrm>
            <a:off x="6740952" y="3597196"/>
            <a:ext cx="4348451" cy="56892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SELECT id FROM users</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WHERE username = 'INPUT';</a:t>
            </a:r>
            <a:endParaRPr lang="en-US" sz="1400" dirty="0"/>
          </a:p>
        </p:txBody>
      </p:sp>
      <p:sp>
        <p:nvSpPr>
          <p:cNvPr id="17" name="Text 15"/>
          <p:cNvSpPr/>
          <p:nvPr/>
        </p:nvSpPr>
        <p:spPr>
          <a:xfrm>
            <a:off x="6527637" y="4543623"/>
            <a:ext cx="477508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An attacker-controlled quote can escape the intended value boundary.</a:t>
            </a:r>
            <a:endParaRPr lang="en-US" sz="1400" dirty="0"/>
          </a:p>
        </p:txBody>
      </p:sp>
      <p:sp>
        <p:nvSpPr>
          <p:cNvPr id="18" name="Text 16"/>
          <p:cNvSpPr/>
          <p:nvPr/>
        </p:nvSpPr>
        <p:spPr>
          <a:xfrm>
            <a:off x="609585" y="5517555"/>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injection is a boundary failure: code and data were allowed to merge.</a:t>
            </a:r>
            <a:endParaRPr lang="en-US" sz="1400" dirty="0"/>
          </a:p>
        </p:txBody>
      </p:sp>
      <p:sp>
        <p:nvSpPr>
          <p:cNvPr id="19" name="Text 17"/>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20" name="Text 18"/>
          <p:cNvSpPr/>
          <p:nvPr/>
        </p:nvSpPr>
        <p:spPr>
          <a:xfrm>
            <a:off x="11942960" y="6466086"/>
            <a:ext cx="248735"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03 — THREE FAMILIES</a:t>
            </a:r>
            <a:endParaRPr lang="en-US" sz="1050" dirty="0"/>
          </a:p>
        </p:txBody>
      </p:sp>
      <p:sp>
        <p:nvSpPr>
          <p:cNvPr id="3" name="Text 1"/>
          <p:cNvSpPr/>
          <p:nvPr/>
        </p:nvSpPr>
        <p:spPr>
          <a:xfrm>
            <a:off x="609585" y="929580"/>
            <a:ext cx="10972526"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The response channel shapes the attack</a:t>
            </a:r>
            <a:endParaRPr lang="en-US" sz="5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682055"/>
          <a:ext cx="10972526" cy="914400"/>
        </p:xfrm>
        <a:graphic>
          <a:graphicData uri="http://schemas.openxmlformats.org/drawingml/2006/table">
            <a:tbl>
              <a:tblPr/>
              <a:tblGrid>
                <a:gridCol w="2194426"/>
                <a:gridCol w="3072216"/>
                <a:gridCol w="2633370"/>
                <a:gridCol w="3072514"/>
              </a:tblGrid>
              <a:tr h="397262">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Family</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What the attacker sees</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Speed</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Typical signal</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r>
              <a:tr h="646096">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In-band</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Results or errors return in the page.</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Fast</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Error-based or UNION-based output</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r>
              <a:tr h="646096">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Blind</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No useful output; behavior becomes the clue.</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Slower</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True/false differences or timing</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r>
              <a:tr h="639747">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Out-of-band</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Data travels through another channel.</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Variable</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c>
                  <a:txBody>
                    <a:bodyPr/>
                    <a:lstStyle/>
                    <a:p>
                      <a:pPr algn="l" indent="0" marL="0">
                        <a:buNone/>
                      </a:pPr>
                      <a:r>
                        <a:rPr lang="en-US" sz="1400" dirty="0">
                          <a:solidFill>
                            <a:srgbClr val="F2EDFB"/>
                          </a:solidFill>
                          <a:latin typeface="Bitter" pitchFamily="34" charset="0"/>
                          <a:ea typeface="Bitter" pitchFamily="34" charset="-122"/>
                          <a:cs typeface="Bitter" pitchFamily="34" charset="0"/>
                        </a:rPr>
                        <a:t>For example, unexpected DNS activity</a:t>
                      </a:r>
                      <a:endParaRPr lang="en-US" sz="1400" dirty="0">
                        <a:latin typeface="Bitter" charset="0"/>
                        <a:ea typeface="Bitter" charset="0"/>
                        <a:cs typeface="Bitter" charset="0"/>
                      </a:endParaRPr>
                    </a:p>
                  </a:txBody>
                  <a:tcPr marL="133347" marR="133347" marT="71118" marB="71118" anchor="ctr">
                    <a:lnL w="12700" cap="flat" cmpd="sng" algn="ctr">
                      <a:solidFill>
                        <a:srgbClr val="4F495E"/>
                      </a:solidFill>
                      <a:prstDash val="solid"/>
                      <a:round/>
                      <a:headEnd type="none" w="med" len="med"/>
                      <a:tailEnd type="none" w="med" len="med"/>
                    </a:lnL>
                    <a:lnR w="12700" cap="flat" cmpd="sng" algn="ctr">
                      <a:solidFill>
                        <a:srgbClr val="4F495E"/>
                      </a:solidFill>
                      <a:prstDash val="solid"/>
                      <a:round/>
                      <a:headEnd type="none" w="med" len="med"/>
                      <a:tailEnd type="none" w="med" len="med"/>
                    </a:lnR>
                    <a:lnT w="12700" cap="flat" cmpd="sng" algn="ctr">
                      <a:solidFill>
                        <a:srgbClr val="4F495E"/>
                      </a:solidFill>
                      <a:prstDash val="solid"/>
                      <a:round/>
                      <a:headEnd type="none" w="med" len="med"/>
                      <a:tailEnd type="none" w="med" len="med"/>
                    </a:lnT>
                    <a:lnB w="12700" cap="flat" cmpd="sng" algn="ctr">
                      <a:solidFill>
                        <a:srgbClr val="4F495E"/>
                      </a:solidFill>
                      <a:prstDash val="solid"/>
                      <a:round/>
                      <a:headEnd type="none" w="med" len="med"/>
                      <a:tailEnd type="none" w="med" len="med"/>
                    </a:lnB>
                  </a:tcPr>
                </a:tc>
              </a:tr>
            </a:tbl>
          </a:graphicData>
        </a:graphic>
      </p:graphicFrame>
      <p:sp>
        <p:nvSpPr>
          <p:cNvPr id="5" name="Text 2"/>
          <p:cNvSpPr/>
          <p:nvPr/>
        </p:nvSpPr>
        <p:spPr>
          <a:xfrm>
            <a:off x="609585" y="4182765"/>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no visible error does not mean no injection; it may mean the signal moved elsewhere.</a:t>
            </a:r>
            <a:endParaRPr lang="en-US" sz="1400" dirty="0"/>
          </a:p>
        </p:txBody>
      </p:sp>
      <p:sp>
        <p:nvSpPr>
          <p:cNvPr id="6" name="Text 3"/>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7" name="Text 4"/>
          <p:cNvSpPr/>
          <p:nvPr/>
        </p:nvSpPr>
        <p:spPr>
          <a:xfrm>
            <a:off x="11941174" y="6466086"/>
            <a:ext cx="25052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04 — ATTACK PATH</a:t>
            </a:r>
            <a:endParaRPr lang="en-US" sz="1050" dirty="0"/>
          </a:p>
        </p:txBody>
      </p:sp>
      <p:sp>
        <p:nvSpPr>
          <p:cNvPr id="3" name="Text 1"/>
          <p:cNvSpPr/>
          <p:nvPr/>
        </p:nvSpPr>
        <p:spPr>
          <a:xfrm>
            <a:off x="609585" y="929580"/>
            <a:ext cx="10972526"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The attack flow, step by step</a:t>
            </a:r>
            <a:endParaRPr lang="en-US" sz="5000" dirty="0"/>
          </a:p>
        </p:txBody>
      </p:sp>
      <p:sp>
        <p:nvSpPr>
          <p:cNvPr id="4" name="Text 2"/>
          <p:cNvSpPr/>
          <p:nvPr/>
        </p:nvSpPr>
        <p:spPr>
          <a:xfrm>
            <a:off x="609585" y="1682055"/>
            <a:ext cx="797004" cy="177800"/>
          </a:xfrm>
          <a:prstGeom prst="rect">
            <a:avLst/>
          </a:prstGeom>
          <a:noFill/>
          <a:ln/>
        </p:spPr>
        <p:txBody>
          <a:bodyPr wrap="none" lIns="0" tIns="0" rIns="0" bIns="0" rtlCol="0" anchor="t"/>
          <a:lstStyle/>
          <a:p>
            <a:pPr algn="l" indent="0" marL="0">
              <a:lnSpc>
                <a:spcPct val="83000"/>
              </a:lnSpc>
              <a:buNone/>
            </a:pPr>
            <a:r>
              <a:rPr lang="en-US" sz="1400" dirty="0">
                <a:solidFill>
                  <a:srgbClr val="17102B"/>
                </a:solidFill>
                <a:latin typeface="Bitter SemiBold" pitchFamily="34" charset="0"/>
                <a:ea typeface="Bitter SemiBold" pitchFamily="34" charset="-122"/>
                <a:cs typeface="Bitter SemiBold" pitchFamily="34" charset="0"/>
              </a:rPr>
              <a:t>01</a:t>
            </a:r>
            <a:endParaRPr lang="en-US" sz="1400" dirty="0"/>
          </a:p>
        </p:txBody>
      </p:sp>
      <p:sp>
        <p:nvSpPr>
          <p:cNvPr id="5" name="Shape 3"/>
          <p:cNvSpPr/>
          <p:nvPr/>
        </p:nvSpPr>
        <p:spPr>
          <a:xfrm>
            <a:off x="609585" y="1930995"/>
            <a:ext cx="1950592" cy="19050"/>
          </a:xfrm>
          <a:prstGeom prst="rect">
            <a:avLst/>
          </a:prstGeom>
          <a:solidFill>
            <a:srgbClr val="17102B"/>
          </a:solidFill>
          <a:ln/>
        </p:spPr>
      </p:sp>
      <p:sp>
        <p:nvSpPr>
          <p:cNvPr id="6" name="Text 4"/>
          <p:cNvSpPr/>
          <p:nvPr/>
        </p:nvSpPr>
        <p:spPr>
          <a:xfrm>
            <a:off x="609585" y="2073533"/>
            <a:ext cx="1950691"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Reach</a:t>
            </a:r>
            <a:endParaRPr lang="en-US" sz="1700" dirty="0"/>
          </a:p>
        </p:txBody>
      </p:sp>
      <p:sp>
        <p:nvSpPr>
          <p:cNvPr id="7" name="Text 5"/>
          <p:cNvSpPr/>
          <p:nvPr/>
        </p:nvSpPr>
        <p:spPr>
          <a:xfrm>
            <a:off x="609585" y="2421136"/>
            <a:ext cx="195069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Find an input that reaches the database.</a:t>
            </a:r>
            <a:endParaRPr lang="en-US" sz="1400" dirty="0"/>
          </a:p>
        </p:txBody>
      </p:sp>
      <p:sp>
        <p:nvSpPr>
          <p:cNvPr id="8" name="Text 6"/>
          <p:cNvSpPr/>
          <p:nvPr/>
        </p:nvSpPr>
        <p:spPr>
          <a:xfrm>
            <a:off x="609585" y="3023592"/>
            <a:ext cx="1950691" cy="373261"/>
          </a:xfrm>
          <a:prstGeom prst="rect">
            <a:avLst/>
          </a:prstGeom>
          <a:noFill/>
          <a:ln/>
        </p:spPr>
        <p:txBody>
          <a:bodyPr wrap="square" lIns="0" tIns="0" rIns="0" bIns="0" rtlCol="0" anchor="t">
            <a:normAutofit/>
          </a:bodyPr>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Detect: map inputs and requests.</a:t>
            </a:r>
            <a:endParaRPr lang="en-US" sz="1050" dirty="0"/>
          </a:p>
        </p:txBody>
      </p:sp>
      <p:sp>
        <p:nvSpPr>
          <p:cNvPr id="9" name="Text 7"/>
          <p:cNvSpPr/>
          <p:nvPr/>
        </p:nvSpPr>
        <p:spPr>
          <a:xfrm>
            <a:off x="2864969" y="1682055"/>
            <a:ext cx="821908" cy="177800"/>
          </a:xfrm>
          <a:prstGeom prst="rect">
            <a:avLst/>
          </a:prstGeom>
          <a:noFill/>
          <a:ln/>
        </p:spPr>
        <p:txBody>
          <a:bodyPr wrap="none" lIns="0" tIns="0" rIns="0" bIns="0" rtlCol="0" anchor="t"/>
          <a:lstStyle/>
          <a:p>
            <a:pPr algn="l" indent="0" marL="0">
              <a:lnSpc>
                <a:spcPct val="83000"/>
              </a:lnSpc>
              <a:buNone/>
            </a:pPr>
            <a:r>
              <a:rPr lang="en-US" sz="1400" dirty="0">
                <a:solidFill>
                  <a:srgbClr val="17102B"/>
                </a:solidFill>
                <a:latin typeface="Bitter SemiBold" pitchFamily="34" charset="0"/>
                <a:ea typeface="Bitter SemiBold" pitchFamily="34" charset="-122"/>
                <a:cs typeface="Bitter SemiBold" pitchFamily="34" charset="0"/>
              </a:rPr>
              <a:t>02</a:t>
            </a:r>
            <a:endParaRPr lang="en-US" sz="1400" dirty="0"/>
          </a:p>
        </p:txBody>
      </p:sp>
      <p:sp>
        <p:nvSpPr>
          <p:cNvPr id="10" name="Shape 8"/>
          <p:cNvSpPr/>
          <p:nvPr/>
        </p:nvSpPr>
        <p:spPr>
          <a:xfrm>
            <a:off x="2864969" y="1930995"/>
            <a:ext cx="1950592" cy="19050"/>
          </a:xfrm>
          <a:prstGeom prst="rect">
            <a:avLst/>
          </a:prstGeom>
          <a:solidFill>
            <a:srgbClr val="17102B"/>
          </a:solidFill>
          <a:ln/>
        </p:spPr>
      </p:sp>
      <p:sp>
        <p:nvSpPr>
          <p:cNvPr id="11" name="Text 9"/>
          <p:cNvSpPr/>
          <p:nvPr/>
        </p:nvSpPr>
        <p:spPr>
          <a:xfrm>
            <a:off x="2864969" y="2073533"/>
            <a:ext cx="1950691"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Probe</a:t>
            </a:r>
            <a:endParaRPr lang="en-US" sz="1700" dirty="0"/>
          </a:p>
        </p:txBody>
      </p:sp>
      <p:sp>
        <p:nvSpPr>
          <p:cNvPr id="12" name="Text 10"/>
          <p:cNvSpPr/>
          <p:nvPr/>
        </p:nvSpPr>
        <p:spPr>
          <a:xfrm>
            <a:off x="2864969" y="2421136"/>
            <a:ext cx="195069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Test a quote or harmless condition.</a:t>
            </a:r>
            <a:endParaRPr lang="en-US" sz="1400" dirty="0"/>
          </a:p>
        </p:txBody>
      </p:sp>
      <p:sp>
        <p:nvSpPr>
          <p:cNvPr id="13" name="Text 11"/>
          <p:cNvSpPr/>
          <p:nvPr/>
        </p:nvSpPr>
        <p:spPr>
          <a:xfrm>
            <a:off x="2864969" y="3023592"/>
            <a:ext cx="1950691"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Detect: review odd syntax.</a:t>
            </a:r>
            <a:endParaRPr lang="en-US" sz="1050" dirty="0"/>
          </a:p>
        </p:txBody>
      </p:sp>
      <p:sp>
        <p:nvSpPr>
          <p:cNvPr id="14" name="Text 12"/>
          <p:cNvSpPr/>
          <p:nvPr/>
        </p:nvSpPr>
        <p:spPr>
          <a:xfrm>
            <a:off x="5120353" y="1682055"/>
            <a:ext cx="824983" cy="177800"/>
          </a:xfrm>
          <a:prstGeom prst="rect">
            <a:avLst/>
          </a:prstGeom>
          <a:noFill/>
          <a:ln/>
        </p:spPr>
        <p:txBody>
          <a:bodyPr wrap="none" lIns="0" tIns="0" rIns="0" bIns="0" rtlCol="0" anchor="t"/>
          <a:lstStyle/>
          <a:p>
            <a:pPr algn="l" indent="0" marL="0">
              <a:lnSpc>
                <a:spcPct val="83000"/>
              </a:lnSpc>
              <a:buNone/>
            </a:pPr>
            <a:r>
              <a:rPr lang="en-US" sz="1400" dirty="0">
                <a:solidFill>
                  <a:srgbClr val="17102B"/>
                </a:solidFill>
                <a:latin typeface="Bitter SemiBold" pitchFamily="34" charset="0"/>
                <a:ea typeface="Bitter SemiBold" pitchFamily="34" charset="-122"/>
                <a:cs typeface="Bitter SemiBold" pitchFamily="34" charset="0"/>
              </a:rPr>
              <a:t>03</a:t>
            </a:r>
            <a:endParaRPr lang="en-US" sz="1400" dirty="0"/>
          </a:p>
        </p:txBody>
      </p:sp>
      <p:sp>
        <p:nvSpPr>
          <p:cNvPr id="15" name="Shape 13"/>
          <p:cNvSpPr/>
          <p:nvPr/>
        </p:nvSpPr>
        <p:spPr>
          <a:xfrm>
            <a:off x="5120353" y="1930995"/>
            <a:ext cx="1950889" cy="19050"/>
          </a:xfrm>
          <a:prstGeom prst="rect">
            <a:avLst/>
          </a:prstGeom>
          <a:solidFill>
            <a:srgbClr val="17102B"/>
          </a:solidFill>
          <a:ln/>
        </p:spPr>
      </p:sp>
      <p:sp>
        <p:nvSpPr>
          <p:cNvPr id="16" name="Text 14"/>
          <p:cNvSpPr/>
          <p:nvPr/>
        </p:nvSpPr>
        <p:spPr>
          <a:xfrm>
            <a:off x="5120353" y="2073533"/>
            <a:ext cx="1950889"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Identify</a:t>
            </a:r>
            <a:endParaRPr lang="en-US" sz="1700" dirty="0"/>
          </a:p>
        </p:txBody>
      </p:sp>
      <p:sp>
        <p:nvSpPr>
          <p:cNvPr id="17" name="Text 15"/>
          <p:cNvSpPr/>
          <p:nvPr/>
        </p:nvSpPr>
        <p:spPr>
          <a:xfrm>
            <a:off x="5120353" y="2421136"/>
            <a:ext cx="1950889"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Confirm database type and structure.</a:t>
            </a:r>
            <a:endParaRPr lang="en-US" sz="1400" dirty="0"/>
          </a:p>
        </p:txBody>
      </p:sp>
      <p:sp>
        <p:nvSpPr>
          <p:cNvPr id="18" name="Text 16"/>
          <p:cNvSpPr/>
          <p:nvPr/>
        </p:nvSpPr>
        <p:spPr>
          <a:xfrm>
            <a:off x="5120353" y="3023592"/>
            <a:ext cx="1950889"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Detect: correlate errors.</a:t>
            </a:r>
            <a:endParaRPr lang="en-US" sz="1050" dirty="0"/>
          </a:p>
        </p:txBody>
      </p:sp>
      <p:sp>
        <p:nvSpPr>
          <p:cNvPr id="19" name="Text 17"/>
          <p:cNvSpPr/>
          <p:nvPr/>
        </p:nvSpPr>
        <p:spPr>
          <a:xfrm>
            <a:off x="7375936" y="1682055"/>
            <a:ext cx="829746" cy="177800"/>
          </a:xfrm>
          <a:prstGeom prst="rect">
            <a:avLst/>
          </a:prstGeom>
          <a:noFill/>
          <a:ln/>
        </p:spPr>
        <p:txBody>
          <a:bodyPr wrap="none" lIns="0" tIns="0" rIns="0" bIns="0" rtlCol="0" anchor="t"/>
          <a:lstStyle/>
          <a:p>
            <a:pPr algn="l" indent="0" marL="0">
              <a:lnSpc>
                <a:spcPct val="83000"/>
              </a:lnSpc>
              <a:buNone/>
            </a:pPr>
            <a:r>
              <a:rPr lang="en-US" sz="1400" dirty="0">
                <a:solidFill>
                  <a:srgbClr val="17102B"/>
                </a:solidFill>
                <a:latin typeface="Bitter SemiBold" pitchFamily="34" charset="0"/>
                <a:ea typeface="Bitter SemiBold" pitchFamily="34" charset="-122"/>
                <a:cs typeface="Bitter SemiBold" pitchFamily="34" charset="0"/>
              </a:rPr>
              <a:t>04</a:t>
            </a:r>
            <a:endParaRPr lang="en-US" sz="1400" dirty="0"/>
          </a:p>
        </p:txBody>
      </p:sp>
      <p:sp>
        <p:nvSpPr>
          <p:cNvPr id="20" name="Shape 18"/>
          <p:cNvSpPr/>
          <p:nvPr/>
        </p:nvSpPr>
        <p:spPr>
          <a:xfrm>
            <a:off x="7375936" y="1930995"/>
            <a:ext cx="1950592" cy="19050"/>
          </a:xfrm>
          <a:prstGeom prst="rect">
            <a:avLst/>
          </a:prstGeom>
          <a:solidFill>
            <a:srgbClr val="17102B"/>
          </a:solidFill>
          <a:ln/>
        </p:spPr>
      </p:sp>
      <p:sp>
        <p:nvSpPr>
          <p:cNvPr id="21" name="Text 19"/>
          <p:cNvSpPr/>
          <p:nvPr/>
        </p:nvSpPr>
        <p:spPr>
          <a:xfrm>
            <a:off x="7375936" y="2073533"/>
            <a:ext cx="1950691"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Extract</a:t>
            </a:r>
            <a:endParaRPr lang="en-US" sz="1700" dirty="0"/>
          </a:p>
        </p:txBody>
      </p:sp>
      <p:sp>
        <p:nvSpPr>
          <p:cNvPr id="22" name="Text 20"/>
          <p:cNvSpPr/>
          <p:nvPr/>
        </p:nvSpPr>
        <p:spPr>
          <a:xfrm>
            <a:off x="7375936" y="2421136"/>
            <a:ext cx="195069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Attempt to read or modify data.</a:t>
            </a:r>
            <a:endParaRPr lang="en-US" sz="1400" dirty="0"/>
          </a:p>
        </p:txBody>
      </p:sp>
      <p:sp>
        <p:nvSpPr>
          <p:cNvPr id="23" name="Text 21"/>
          <p:cNvSpPr/>
          <p:nvPr/>
        </p:nvSpPr>
        <p:spPr>
          <a:xfrm>
            <a:off x="7375936" y="3023592"/>
            <a:ext cx="1950691"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Detect: watch query patterns.</a:t>
            </a:r>
            <a:endParaRPr lang="en-US" sz="1050" dirty="0"/>
          </a:p>
        </p:txBody>
      </p:sp>
      <p:sp>
        <p:nvSpPr>
          <p:cNvPr id="24" name="Text 22"/>
          <p:cNvSpPr/>
          <p:nvPr/>
        </p:nvSpPr>
        <p:spPr>
          <a:xfrm>
            <a:off x="9631320" y="1682055"/>
            <a:ext cx="819427" cy="177800"/>
          </a:xfrm>
          <a:prstGeom prst="rect">
            <a:avLst/>
          </a:prstGeom>
          <a:noFill/>
          <a:ln/>
        </p:spPr>
        <p:txBody>
          <a:bodyPr wrap="none" lIns="0" tIns="0" rIns="0" bIns="0" rtlCol="0" anchor="t"/>
          <a:lstStyle/>
          <a:p>
            <a:pPr algn="l" indent="0" marL="0">
              <a:lnSpc>
                <a:spcPct val="83000"/>
              </a:lnSpc>
              <a:buNone/>
            </a:pPr>
            <a:r>
              <a:rPr lang="en-US" sz="1400" dirty="0">
                <a:solidFill>
                  <a:srgbClr val="17102B"/>
                </a:solidFill>
                <a:latin typeface="Bitter SemiBold" pitchFamily="34" charset="0"/>
                <a:ea typeface="Bitter SemiBold" pitchFamily="34" charset="-122"/>
                <a:cs typeface="Bitter SemiBold" pitchFamily="34" charset="0"/>
              </a:rPr>
              <a:t>05</a:t>
            </a:r>
            <a:endParaRPr lang="en-US" sz="1400" dirty="0"/>
          </a:p>
        </p:txBody>
      </p:sp>
      <p:sp>
        <p:nvSpPr>
          <p:cNvPr id="25" name="Shape 23"/>
          <p:cNvSpPr/>
          <p:nvPr/>
        </p:nvSpPr>
        <p:spPr>
          <a:xfrm>
            <a:off x="9631320" y="1930995"/>
            <a:ext cx="1950691" cy="19050"/>
          </a:xfrm>
          <a:prstGeom prst="rect">
            <a:avLst/>
          </a:prstGeom>
          <a:solidFill>
            <a:srgbClr val="17102B"/>
          </a:solidFill>
          <a:ln/>
        </p:spPr>
      </p:sp>
      <p:sp>
        <p:nvSpPr>
          <p:cNvPr id="26" name="Text 24"/>
          <p:cNvSpPr/>
          <p:nvPr/>
        </p:nvSpPr>
        <p:spPr>
          <a:xfrm>
            <a:off x="9631320" y="2073533"/>
            <a:ext cx="1950790"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Pivot</a:t>
            </a:r>
            <a:endParaRPr lang="en-US" sz="1700" dirty="0"/>
          </a:p>
        </p:txBody>
      </p:sp>
      <p:sp>
        <p:nvSpPr>
          <p:cNvPr id="27" name="Text 25"/>
          <p:cNvSpPr/>
          <p:nvPr/>
        </p:nvSpPr>
        <p:spPr>
          <a:xfrm>
            <a:off x="9631320" y="2421136"/>
            <a:ext cx="195079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Seek privilege or deeper access.</a:t>
            </a:r>
            <a:endParaRPr lang="en-US" sz="1400" dirty="0"/>
          </a:p>
        </p:txBody>
      </p:sp>
      <p:sp>
        <p:nvSpPr>
          <p:cNvPr id="28" name="Text 26"/>
          <p:cNvSpPr/>
          <p:nvPr/>
        </p:nvSpPr>
        <p:spPr>
          <a:xfrm>
            <a:off x="9631320" y="3023592"/>
            <a:ext cx="1950790"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Detect: alert on scope changes.</a:t>
            </a:r>
            <a:endParaRPr lang="en-US" sz="1050" dirty="0"/>
          </a:p>
        </p:txBody>
      </p:sp>
      <p:sp>
        <p:nvSpPr>
          <p:cNvPr id="29" name="Shape 27"/>
          <p:cNvSpPr/>
          <p:nvPr/>
        </p:nvSpPr>
        <p:spPr>
          <a:xfrm>
            <a:off x="609585" y="3600053"/>
            <a:ext cx="10972526" cy="19050"/>
          </a:xfrm>
          <a:prstGeom prst="roundRect">
            <a:avLst>
              <a:gd name="adj" fmla="val 49999"/>
            </a:avLst>
          </a:prstGeom>
          <a:solidFill>
            <a:srgbClr val="4A3670"/>
          </a:solidFill>
          <a:ln/>
        </p:spPr>
      </p:sp>
      <p:sp>
        <p:nvSpPr>
          <p:cNvPr id="30" name="Text 28"/>
          <p:cNvSpPr/>
          <p:nvPr/>
        </p:nvSpPr>
        <p:spPr>
          <a:xfrm>
            <a:off x="609585" y="3822303"/>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defenders can interrupt the chain at every stage, not only after data leaves.</a:t>
            </a:r>
            <a:endParaRPr lang="en-US" sz="1400" dirty="0"/>
          </a:p>
        </p:txBody>
      </p:sp>
      <p:sp>
        <p:nvSpPr>
          <p:cNvPr id="31" name="Text 29"/>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32" name="Text 30"/>
          <p:cNvSpPr/>
          <p:nvPr/>
        </p:nvSpPr>
        <p:spPr>
          <a:xfrm>
            <a:off x="11947425" y="6466086"/>
            <a:ext cx="24427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05 — SAFE PRACTICE LAB</a:t>
            </a:r>
            <a:endParaRPr lang="en-US" sz="1050" dirty="0"/>
          </a:p>
        </p:txBody>
      </p:sp>
      <p:sp>
        <p:nvSpPr>
          <p:cNvPr id="3" name="Text 1"/>
          <p:cNvSpPr/>
          <p:nvPr/>
        </p:nvSpPr>
        <p:spPr>
          <a:xfrm>
            <a:off x="609585" y="929580"/>
            <a:ext cx="10972526" cy="1270000"/>
          </a:xfrm>
          <a:prstGeom prst="rect">
            <a:avLst/>
          </a:prstGeom>
          <a:noFill/>
          <a:ln/>
        </p:spPr>
        <p:txBody>
          <a:bodyPr wrap="square" lIns="0" tIns="0" rIns="0" bIns="0" rtlCol="0" anchor="t">
            <a:normAutofit/>
          </a:bodyPr>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A login bypass belongs in a lab, not on a target</a:t>
            </a:r>
            <a:endParaRPr lang="en-US" sz="5000" dirty="0"/>
          </a:p>
        </p:txBody>
      </p:sp>
      <p:sp>
        <p:nvSpPr>
          <p:cNvPr id="4" name="Shape 2"/>
          <p:cNvSpPr/>
          <p:nvPr/>
        </p:nvSpPr>
        <p:spPr>
          <a:xfrm>
            <a:off x="609585" y="2317055"/>
            <a:ext cx="5333867" cy="3340199"/>
          </a:xfrm>
          <a:prstGeom prst="roundRect">
            <a:avLst>
              <a:gd name="adj" fmla="val 342"/>
            </a:avLst>
          </a:prstGeom>
          <a:noFill/>
          <a:ln w="19050">
            <a:solidFill>
              <a:srgbClr val="302944"/>
            </a:solidFill>
            <a:prstDash val="solid"/>
          </a:ln>
        </p:spPr>
      </p:sp>
      <p:sp>
        <p:nvSpPr>
          <p:cNvPr id="5" name="Shape 3"/>
          <p:cNvSpPr/>
          <p:nvPr/>
        </p:nvSpPr>
        <p:spPr>
          <a:xfrm>
            <a:off x="882628" y="2590105"/>
            <a:ext cx="2568412" cy="270173"/>
          </a:xfrm>
          <a:prstGeom prst="roundRect">
            <a:avLst>
              <a:gd name="adj" fmla="val 4231"/>
            </a:avLst>
          </a:prstGeom>
          <a:noFill/>
          <a:ln w="12700">
            <a:solidFill>
              <a:srgbClr val="B79CF5"/>
            </a:solidFill>
            <a:prstDash val="solid"/>
          </a:ln>
        </p:spPr>
      </p:sp>
      <p:sp>
        <p:nvSpPr>
          <p:cNvPr id="6" name="Text 4"/>
          <p:cNvSpPr/>
          <p:nvPr/>
        </p:nvSpPr>
        <p:spPr>
          <a:xfrm>
            <a:off x="989285" y="2647154"/>
            <a:ext cx="2964681" cy="163612"/>
          </a:xfrm>
          <a:prstGeom prst="rect">
            <a:avLst/>
          </a:prstGeom>
          <a:noFill/>
          <a:ln/>
        </p:spPr>
        <p:txBody>
          <a:bodyPr wrap="none" lIns="0" tIns="0" rIns="0" bIns="0" rtlCol="0" anchor="t"/>
          <a:lstStyle/>
          <a:p>
            <a:pPr algn="l" indent="0" marL="0">
              <a:lnSpc>
                <a:spcPct val="96000"/>
              </a:lnSpc>
              <a:buNone/>
            </a:pPr>
            <a:r>
              <a:rPr lang="en-US" sz="1100" dirty="0">
                <a:solidFill>
                  <a:srgbClr val="B79CF5"/>
                </a:solidFill>
                <a:latin typeface="Bitter" pitchFamily="34" charset="0"/>
                <a:ea typeface="Bitter" pitchFamily="34" charset="-122"/>
                <a:cs typeface="Bitter" pitchFamily="34" charset="0"/>
              </a:rPr>
              <a:t>INTENTIONALLY VULNERABLE APP</a:t>
            </a:r>
            <a:endParaRPr lang="en-US" sz="1100" dirty="0"/>
          </a:p>
        </p:txBody>
      </p:sp>
      <p:sp>
        <p:nvSpPr>
          <p:cNvPr id="7" name="Text 5"/>
          <p:cNvSpPr/>
          <p:nvPr/>
        </p:nvSpPr>
        <p:spPr>
          <a:xfrm>
            <a:off x="882628" y="2953941"/>
            <a:ext cx="4787780"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0"/>
              </a:rPr>
              <a:t>Juice Shop or DVWA</a:t>
            </a:r>
            <a:endParaRPr lang="en-US" sz="2000" dirty="0"/>
          </a:p>
        </p:txBody>
      </p:sp>
      <p:sp>
        <p:nvSpPr>
          <p:cNvPr id="8" name="Text 6"/>
          <p:cNvSpPr/>
          <p:nvPr/>
        </p:nvSpPr>
        <p:spPr>
          <a:xfrm>
            <a:off x="882628" y="3339703"/>
            <a:ext cx="5060823"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Run locally, with authorization, on your own machine only.</a:t>
            </a:r>
            <a:endParaRPr lang="en-US" sz="1400" dirty="0"/>
          </a:p>
        </p:txBody>
      </p:sp>
      <p:sp>
        <p:nvSpPr>
          <p:cNvPr id="9" name="Shape 7"/>
          <p:cNvSpPr/>
          <p:nvPr/>
        </p:nvSpPr>
        <p:spPr>
          <a:xfrm>
            <a:off x="882628" y="3788569"/>
            <a:ext cx="4787780" cy="1208980"/>
          </a:xfrm>
          <a:prstGeom prst="roundRect">
            <a:avLst>
              <a:gd name="adj" fmla="val 945"/>
            </a:avLst>
          </a:prstGeom>
          <a:solidFill>
            <a:srgbClr val="241D38"/>
          </a:solidFill>
          <a:ln/>
        </p:spPr>
      </p:sp>
      <p:sp>
        <p:nvSpPr>
          <p:cNvPr id="10" name="Text 8"/>
          <p:cNvSpPr/>
          <p:nvPr/>
        </p:nvSpPr>
        <p:spPr>
          <a:xfrm>
            <a:off x="1095943" y="3966686"/>
            <a:ext cx="4361150" cy="85338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SELECT id FROM users</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WHERE username = 'INPUT'</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AND password = 'CHECK';</a:t>
            </a:r>
            <a:endParaRPr lang="en-US" sz="1400" dirty="0"/>
          </a:p>
        </p:txBody>
      </p:sp>
      <p:sp>
        <p:nvSpPr>
          <p:cNvPr id="11" name="Text 9"/>
          <p:cNvSpPr/>
          <p:nvPr/>
        </p:nvSpPr>
        <p:spPr>
          <a:xfrm>
            <a:off x="882628" y="5197574"/>
            <a:ext cx="5060823"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The lesson: concatenation lets input alter the condition.</a:t>
            </a:r>
            <a:endParaRPr lang="en-US" sz="1050" dirty="0"/>
          </a:p>
        </p:txBody>
      </p:sp>
      <p:sp>
        <p:nvSpPr>
          <p:cNvPr id="12" name="Shape 10"/>
          <p:cNvSpPr/>
          <p:nvPr/>
        </p:nvSpPr>
        <p:spPr>
          <a:xfrm>
            <a:off x="6248244" y="2317055"/>
            <a:ext cx="5333867" cy="3340199"/>
          </a:xfrm>
          <a:prstGeom prst="rect">
            <a:avLst/>
          </a:prstGeom>
          <a:solidFill>
            <a:srgbClr val="4A3670"/>
          </a:solidFill>
          <a:ln/>
        </p:spPr>
      </p:sp>
      <p:sp>
        <p:nvSpPr>
          <p:cNvPr id="13" name="Shape 11"/>
          <p:cNvSpPr/>
          <p:nvPr/>
        </p:nvSpPr>
        <p:spPr>
          <a:xfrm>
            <a:off x="6502237" y="2571055"/>
            <a:ext cx="2025699" cy="270173"/>
          </a:xfrm>
          <a:prstGeom prst="roundRect">
            <a:avLst>
              <a:gd name="adj" fmla="val 4231"/>
            </a:avLst>
          </a:prstGeom>
          <a:solidFill>
            <a:srgbClr val="1E1538"/>
          </a:solidFill>
          <a:ln/>
        </p:spPr>
      </p:sp>
      <p:sp>
        <p:nvSpPr>
          <p:cNvPr id="14" name="Text 12"/>
          <p:cNvSpPr/>
          <p:nvPr/>
        </p:nvSpPr>
        <p:spPr>
          <a:xfrm>
            <a:off x="6608895" y="2628104"/>
            <a:ext cx="2421968" cy="163612"/>
          </a:xfrm>
          <a:prstGeom prst="rect">
            <a:avLst/>
          </a:prstGeom>
          <a:noFill/>
          <a:ln/>
        </p:spPr>
        <p:txBody>
          <a:bodyPr wrap="none" lIns="0" tIns="0" rIns="0" bIns="0" rtlCol="0" anchor="t"/>
          <a:lstStyle/>
          <a:p>
            <a:pPr algn="l" indent="0" marL="0">
              <a:lnSpc>
                <a:spcPct val="96000"/>
              </a:lnSpc>
              <a:buNone/>
            </a:pPr>
            <a:r>
              <a:rPr lang="en-US" sz="1100" dirty="0">
                <a:solidFill>
                  <a:srgbClr val="F2EDFB"/>
                </a:solidFill>
                <a:latin typeface="Bitter" pitchFamily="34" charset="0"/>
                <a:ea typeface="Bitter" pitchFamily="34" charset="-122"/>
                <a:cs typeface="Bitter" pitchFamily="34" charset="0"/>
              </a:rPr>
              <a:t>PARAMETERIZED VERSION</a:t>
            </a:r>
            <a:endParaRPr lang="en-US" sz="1100" dirty="0"/>
          </a:p>
        </p:txBody>
      </p:sp>
      <p:sp>
        <p:nvSpPr>
          <p:cNvPr id="15" name="Text 13"/>
          <p:cNvSpPr/>
          <p:nvPr/>
        </p:nvSpPr>
        <p:spPr>
          <a:xfrm>
            <a:off x="6502237" y="2934891"/>
            <a:ext cx="4825879"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Same input, different meaning</a:t>
            </a:r>
            <a:endParaRPr lang="en-US" sz="2000" dirty="0"/>
          </a:p>
        </p:txBody>
      </p:sp>
      <p:sp>
        <p:nvSpPr>
          <p:cNvPr id="16" name="Shape 14"/>
          <p:cNvSpPr/>
          <p:nvPr/>
        </p:nvSpPr>
        <p:spPr>
          <a:xfrm>
            <a:off x="6502237" y="3393678"/>
            <a:ext cx="4825879" cy="1208980"/>
          </a:xfrm>
          <a:prstGeom prst="roundRect">
            <a:avLst>
              <a:gd name="adj" fmla="val 945"/>
            </a:avLst>
          </a:prstGeom>
          <a:solidFill>
            <a:srgbClr val="241D38"/>
          </a:solidFill>
          <a:ln/>
        </p:spPr>
      </p:sp>
      <p:sp>
        <p:nvSpPr>
          <p:cNvPr id="17" name="Text 15"/>
          <p:cNvSpPr/>
          <p:nvPr/>
        </p:nvSpPr>
        <p:spPr>
          <a:xfrm>
            <a:off x="6715552" y="3571796"/>
            <a:ext cx="4399249" cy="85338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SELECT id FROM users</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WHERE username = ?</a:t>
            </a:r>
            <a:endParaRPr lang="en-US" sz="1400" dirty="0"/>
          </a:p>
          <a:p>
            <a:pPr algn="l" indent="0" marL="0">
              <a:lnSpc>
                <a:spcPct val="133000"/>
              </a:lnSpc>
              <a:buNone/>
            </a:pPr>
            <a:r>
              <a:rPr lang="en-US" sz="1400" dirty="0">
                <a:solidFill>
                  <a:srgbClr val="FF7B72"/>
                </a:solidFill>
                <a:latin typeface="Consolas" pitchFamily="34" charset="0"/>
                <a:ea typeface="Consolas" pitchFamily="34" charset="-122"/>
                <a:cs typeface="Consolas" pitchFamily="34" charset="0"/>
              </a:rPr>
              <a:t>AND password = ?;</a:t>
            </a:r>
            <a:endParaRPr lang="en-US" sz="1400" dirty="0"/>
          </a:p>
        </p:txBody>
      </p:sp>
      <p:sp>
        <p:nvSpPr>
          <p:cNvPr id="18" name="Text 16"/>
          <p:cNvSpPr/>
          <p:nvPr/>
        </p:nvSpPr>
        <p:spPr>
          <a:xfrm>
            <a:off x="6502237" y="4802684"/>
            <a:ext cx="4825879" cy="50403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The string </a:t>
            </a:r>
            <a:pPr algn="l" indent="0" marL="0">
              <a:lnSpc>
                <a:spcPct val="117000"/>
              </a:lnSpc>
              <a:buNone/>
            </a:pPr>
            <a:r>
              <a:rPr lang="en-US" sz="1400" dirty="0">
                <a:solidFill>
                  <a:srgbClr val="FFFFFF"/>
                </a:solidFill>
                <a:highlight>
                  <a:srgbClr val="241D38"/>
                </a:highlight>
                <a:latin typeface="Consolas" pitchFamily="34" charset="0"/>
                <a:ea typeface="Consolas" pitchFamily="34" charset="-122"/>
                <a:cs typeface="Consolas" pitchFamily="34" charset="0"/>
              </a:rPr>
              <a:t>tom' OR '1'='1</a:t>
            </a:r>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 is treated as a literal username, not new SQL logic.</a:t>
            </a:r>
            <a:endParaRPr lang="en-US" sz="1400" dirty="0"/>
          </a:p>
        </p:txBody>
      </p:sp>
      <p:sp>
        <p:nvSpPr>
          <p:cNvPr id="19" name="Text 17"/>
          <p:cNvSpPr/>
          <p:nvPr/>
        </p:nvSpPr>
        <p:spPr>
          <a:xfrm>
            <a:off x="609585" y="5816005"/>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practice the distinction safely: authorized lab, fixed code, parameterized defense.</a:t>
            </a:r>
            <a:endParaRPr lang="en-US" sz="1400" dirty="0"/>
          </a:p>
        </p:txBody>
      </p:sp>
      <p:sp>
        <p:nvSpPr>
          <p:cNvPr id="20" name="Text 18"/>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21" name="Text 19"/>
          <p:cNvSpPr/>
          <p:nvPr/>
        </p:nvSpPr>
        <p:spPr>
          <a:xfrm>
            <a:off x="11940777" y="6466086"/>
            <a:ext cx="250918"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3387" y="482600"/>
            <a:ext cx="678163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06 — CASE STUDY</a:t>
            </a:r>
            <a:endParaRPr lang="en-US" sz="1050" dirty="0"/>
          </a:p>
        </p:txBody>
      </p:sp>
      <p:sp>
        <p:nvSpPr>
          <p:cNvPr id="3" name="Text 1"/>
          <p:cNvSpPr/>
          <p:nvPr/>
        </p:nvSpPr>
        <p:spPr>
          <a:xfrm>
            <a:off x="533387" y="802580"/>
            <a:ext cx="6248244" cy="1270000"/>
          </a:xfrm>
          <a:prstGeom prst="rect">
            <a:avLst/>
          </a:prstGeom>
          <a:noFill/>
          <a:ln/>
        </p:spPr>
        <p:txBody>
          <a:bodyPr wrap="square" lIns="0" tIns="0" rIns="0" bIns="0" rtlCol="0" anchor="t">
            <a:normAutofit/>
          </a:bodyPr>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Heartland and the</a:t>
            </a:r>
            <a:endParaRPr lang="en-US" sz="5000" dirty="0"/>
          </a:p>
          <a:p>
            <a:pPr algn="l" indent="0" marL="0">
              <a:lnSpc>
                <a:spcPct val="83000"/>
              </a:lnSpc>
              <a:buNone/>
            </a:pPr>
            <a:r>
              <a:rPr lang="en-US" sz="5000" dirty="0">
                <a:solidFill>
                  <a:srgbClr val="F2EDFB"/>
                </a:solidFill>
                <a:latin typeface="Jost" pitchFamily="34" charset="0"/>
                <a:ea typeface="Jost" pitchFamily="34" charset="-122"/>
                <a:cs typeface="Jost" pitchFamily="34" charset="0"/>
              </a:rPr>
              <a:t>130 million cards</a:t>
            </a:r>
            <a:endParaRPr lang="en-US" sz="5000" dirty="0"/>
          </a:p>
        </p:txBody>
      </p:sp>
      <p:sp>
        <p:nvSpPr>
          <p:cNvPr id="4" name="Text 2"/>
          <p:cNvSpPr/>
          <p:nvPr/>
        </p:nvSpPr>
        <p:spPr>
          <a:xfrm>
            <a:off x="533387" y="2190055"/>
            <a:ext cx="6781630"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The alleged entry point was only the beginning.</a:t>
            </a:r>
            <a:endParaRPr lang="en-US" sz="1400" dirty="0"/>
          </a:p>
        </p:txBody>
      </p:sp>
      <p:sp>
        <p:nvSpPr>
          <p:cNvPr id="5" name="Shape 3"/>
          <p:cNvSpPr/>
          <p:nvPr/>
        </p:nvSpPr>
        <p:spPr>
          <a:xfrm>
            <a:off x="533387" y="2642096"/>
            <a:ext cx="6248244" cy="19050"/>
          </a:xfrm>
          <a:prstGeom prst="roundRect">
            <a:avLst>
              <a:gd name="adj" fmla="val 49999"/>
            </a:avLst>
          </a:prstGeom>
          <a:solidFill>
            <a:srgbClr val="4A3670"/>
          </a:solidFill>
          <a:ln/>
        </p:spPr>
      </p:sp>
      <p:sp>
        <p:nvSpPr>
          <p:cNvPr id="6" name="Text 4"/>
          <p:cNvSpPr/>
          <p:nvPr/>
        </p:nvSpPr>
        <p:spPr>
          <a:xfrm>
            <a:off x="533387" y="2864346"/>
            <a:ext cx="6248244" cy="1561703"/>
          </a:xfrm>
          <a:prstGeom prst="rect">
            <a:avLst/>
          </a:prstGeom>
          <a:noFill/>
          <a:ln/>
        </p:spPr>
        <p:txBody>
          <a:bodyPr wrap="square" lIns="0" tIns="0" rIns="0" bIns="0" rtlCol="0" anchor="t">
            <a:normAutofit/>
          </a:bodyPr>
          <a:lstStyle/>
          <a:p>
            <a:pPr algn="l" indent="0" marL="0">
              <a:lnSpc>
                <a:spcPct val="117000"/>
              </a:lnSpc>
              <a:spcAft>
                <a:spcPts val="1200"/>
              </a:spcAft>
              <a:buNone/>
            </a:pPr>
            <a:r>
              <a:rPr lang="en-US" sz="1400" dirty="0">
                <a:solidFill>
                  <a:srgbClr val="F2EDFB"/>
                </a:solidFill>
                <a:latin typeface="Bitter" pitchFamily="34" charset="0"/>
                <a:ea typeface="Bitter" pitchFamily="34" charset="-122"/>
                <a:cs typeface="Bitter" pitchFamily="34" charset="0"/>
              </a:rPr>
              <a:t>A 2009 indictment alleged SQL injection was used to break into Heartland, Hannaford, 7-Eleven and other retailers.</a:t>
            </a:r>
            <a:endParaRPr lang="en-US" sz="1400" dirty="0"/>
          </a:p>
          <a:p>
            <a:pPr algn="l" indent="0" marL="0">
              <a:lnSpc>
                <a:spcPct val="117000"/>
              </a:lnSpc>
              <a:spcAft>
                <a:spcPts val="1200"/>
              </a:spcAft>
              <a:buNone/>
            </a:pPr>
            <a:r>
              <a:rPr lang="en-US" sz="1400" dirty="0">
                <a:solidFill>
                  <a:srgbClr val="F2EDFB"/>
                </a:solidFill>
                <a:latin typeface="Bitter" pitchFamily="34" charset="0"/>
                <a:ea typeface="Bitter" pitchFamily="34" charset="-122"/>
                <a:cs typeface="Bitter" pitchFamily="34" charset="0"/>
              </a:rPr>
              <a:t>After entry, attackers allegedly planted packet-sniffing tools to capture card data.</a:t>
            </a:r>
            <a:endParaRPr lang="en-US" sz="1400" dirty="0"/>
          </a:p>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Lesson:</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one unchecked input can open a whole network.</a:t>
            </a:r>
            <a:endParaRPr lang="en-US" sz="1400" dirty="0"/>
          </a:p>
        </p:txBody>
      </p:sp>
      <p:pic>
        <p:nvPicPr>
          <p:cNvPr id="7" name="Image 0" descr="preencoded.png">    </p:cNvPr>
          <p:cNvPicPr>
            <a:picLocks noChangeAspect="1"/>
          </p:cNvPicPr>
          <p:nvPr/>
        </p:nvPicPr>
        <p:blipFill>
          <a:blip r:embed="rId1"/>
          <a:stretch>
            <a:fillRect/>
          </a:stretch>
        </p:blipFill>
        <p:spPr>
          <a:xfrm>
            <a:off x="7315017" y="0"/>
            <a:ext cx="4876678" cy="6858000"/>
          </a:xfrm>
          <a:prstGeom prst="rect">
            <a:avLst/>
          </a:prstGeom>
        </p:spPr>
      </p:pic>
      <p:sp>
        <p:nvSpPr>
          <p:cNvPr id="8" name="Text 5"/>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9" name="Text 6"/>
          <p:cNvSpPr/>
          <p:nvPr/>
        </p:nvSpPr>
        <p:spPr>
          <a:xfrm>
            <a:off x="6064594" y="6466086"/>
            <a:ext cx="67209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3387" y="482600"/>
            <a:ext cx="6375241"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07 — IMPACT &amp; DETECTION</a:t>
            </a:r>
            <a:endParaRPr lang="en-US" sz="1050" dirty="0"/>
          </a:p>
        </p:txBody>
      </p:sp>
      <p:sp>
        <p:nvSpPr>
          <p:cNvPr id="3" name="Text 1"/>
          <p:cNvSpPr/>
          <p:nvPr/>
        </p:nvSpPr>
        <p:spPr>
          <a:xfrm>
            <a:off x="533387" y="802580"/>
            <a:ext cx="5841854" cy="1270000"/>
          </a:xfrm>
          <a:prstGeom prst="rect">
            <a:avLst/>
          </a:prstGeom>
          <a:noFill/>
          <a:ln/>
        </p:spPr>
        <p:txBody>
          <a:bodyPr wrap="square" lIns="0" tIns="0" rIns="0" bIns="0" rtlCol="0" anchor="t">
            <a:normAutofit/>
          </a:bodyPr>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See the signal before it becomes the story</a:t>
            </a:r>
            <a:endParaRPr lang="en-US" sz="5000" dirty="0"/>
          </a:p>
        </p:txBody>
      </p:sp>
      <p:sp>
        <p:nvSpPr>
          <p:cNvPr id="4" name="Shape 2"/>
          <p:cNvSpPr/>
          <p:nvPr/>
        </p:nvSpPr>
        <p:spPr>
          <a:xfrm>
            <a:off x="533387" y="2190055"/>
            <a:ext cx="2768531" cy="1935163"/>
          </a:xfrm>
          <a:prstGeom prst="roundRect">
            <a:avLst>
              <a:gd name="adj" fmla="val 591"/>
            </a:avLst>
          </a:prstGeom>
          <a:noFill/>
          <a:ln w="19050">
            <a:solidFill>
              <a:srgbClr val="302944"/>
            </a:solidFill>
            <a:prstDash val="solid"/>
          </a:ln>
        </p:spPr>
      </p:sp>
      <p:sp>
        <p:nvSpPr>
          <p:cNvPr id="5" name="Text 3"/>
          <p:cNvSpPr/>
          <p:nvPr/>
        </p:nvSpPr>
        <p:spPr>
          <a:xfrm>
            <a:off x="755631" y="2432943"/>
            <a:ext cx="2324042"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0"/>
              </a:rPr>
              <a:t>Impact</a:t>
            </a:r>
            <a:endParaRPr lang="en-US" sz="2000" dirty="0"/>
          </a:p>
        </p:txBody>
      </p:sp>
      <p:sp>
        <p:nvSpPr>
          <p:cNvPr id="6" name="Text 4"/>
          <p:cNvSpPr/>
          <p:nvPr/>
        </p:nvSpPr>
        <p:spPr>
          <a:xfrm>
            <a:off x="755631" y="2818705"/>
            <a:ext cx="2324042" cy="1084263"/>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F2EDFB"/>
                </a:solidFill>
                <a:latin typeface="Bitter" pitchFamily="34" charset="0"/>
                <a:ea typeface="Bitter" pitchFamily="34" charset="-122"/>
                <a:cs typeface="Bitter" pitchFamily="34" charset="0"/>
              </a:rPr>
              <a:t>Stolen customer data</a:t>
            </a:r>
            <a:endParaRPr lang="en-US" sz="1400" dirty="0"/>
          </a:p>
          <a:p>
            <a:pPr algn="l" marL="284480" indent="-284480">
              <a:lnSpc>
                <a:spcPct val="117000"/>
              </a:lnSpc>
              <a:buSzPct val="100000"/>
              <a:buChar char="•"/>
            </a:pPr>
            <a:r>
              <a:rPr lang="en-US" sz="1400" dirty="0">
                <a:solidFill>
                  <a:srgbClr val="F2EDFB"/>
                </a:solidFill>
                <a:latin typeface="Bitter" pitchFamily="34" charset="0"/>
                <a:ea typeface="Bitter" pitchFamily="34" charset="-122"/>
                <a:cs typeface="Bitter" pitchFamily="34" charset="0"/>
              </a:rPr>
              <a:t>Altered records</a:t>
            </a:r>
            <a:endParaRPr lang="en-US" sz="1400" dirty="0"/>
          </a:p>
          <a:p>
            <a:pPr algn="l" marL="284480" indent="-284480">
              <a:lnSpc>
                <a:spcPct val="117000"/>
              </a:lnSpc>
              <a:buSzPct val="100000"/>
              <a:buChar char="•"/>
            </a:pPr>
            <a:r>
              <a:rPr lang="en-US" sz="1400" dirty="0">
                <a:solidFill>
                  <a:srgbClr val="F2EDFB"/>
                </a:solidFill>
                <a:latin typeface="Bitter" pitchFamily="34" charset="0"/>
                <a:ea typeface="Bitter" pitchFamily="34" charset="-122"/>
                <a:cs typeface="Bitter" pitchFamily="34" charset="0"/>
              </a:rPr>
              <a:t>Downtime, fines, lost trust</a:t>
            </a:r>
            <a:endParaRPr lang="en-US" sz="1400" dirty="0"/>
          </a:p>
        </p:txBody>
      </p:sp>
      <p:sp>
        <p:nvSpPr>
          <p:cNvPr id="7" name="Shape 5"/>
          <p:cNvSpPr/>
          <p:nvPr/>
        </p:nvSpPr>
        <p:spPr>
          <a:xfrm>
            <a:off x="3606710" y="2190055"/>
            <a:ext cx="2768531" cy="1935163"/>
          </a:xfrm>
          <a:prstGeom prst="rect">
            <a:avLst/>
          </a:prstGeom>
          <a:solidFill>
            <a:srgbClr val="4A3670"/>
          </a:solidFill>
          <a:ln/>
        </p:spPr>
      </p:sp>
      <p:sp>
        <p:nvSpPr>
          <p:cNvPr id="8" name="Text 6"/>
          <p:cNvSpPr/>
          <p:nvPr/>
        </p:nvSpPr>
        <p:spPr>
          <a:xfrm>
            <a:off x="3809905" y="2413893"/>
            <a:ext cx="2362141"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Detection</a:t>
            </a:r>
            <a:endParaRPr lang="en-US" sz="2000" dirty="0"/>
          </a:p>
        </p:txBody>
      </p:sp>
      <p:sp>
        <p:nvSpPr>
          <p:cNvPr id="9" name="Text 7"/>
          <p:cNvSpPr/>
          <p:nvPr/>
        </p:nvSpPr>
        <p:spPr>
          <a:xfrm>
            <a:off x="3809905" y="2799655"/>
            <a:ext cx="2362141" cy="1084263"/>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0"/>
              </a:rPr>
              <a:t>WAF alerts and odd inputs</a:t>
            </a:r>
            <a:endParaRPr lang="en-US" sz="1400" dirty="0"/>
          </a:p>
          <a:p>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0"/>
              </a:rPr>
              <a:t>Database error spikes</a:t>
            </a:r>
            <a:endParaRPr lang="en-US" sz="1400" dirty="0"/>
          </a:p>
          <a:p>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0"/>
              </a:rPr>
              <a:t>Slow-response patterns</a:t>
            </a:r>
            <a:endParaRPr lang="en-US" sz="1400" dirty="0"/>
          </a:p>
        </p:txBody>
      </p:sp>
      <p:sp>
        <p:nvSpPr>
          <p:cNvPr id="10" name="Shape 8"/>
          <p:cNvSpPr/>
          <p:nvPr/>
        </p:nvSpPr>
        <p:spPr>
          <a:xfrm>
            <a:off x="533387" y="4328418"/>
            <a:ext cx="5841755" cy="19050"/>
          </a:xfrm>
          <a:prstGeom prst="roundRect">
            <a:avLst>
              <a:gd name="adj" fmla="val 49999"/>
            </a:avLst>
          </a:prstGeom>
          <a:solidFill>
            <a:srgbClr val="4A3670"/>
          </a:solidFill>
          <a:ln/>
        </p:spPr>
      </p:sp>
      <p:sp>
        <p:nvSpPr>
          <p:cNvPr id="11" name="Text 9"/>
          <p:cNvSpPr/>
          <p:nvPr/>
        </p:nvSpPr>
        <p:spPr>
          <a:xfrm>
            <a:off x="533387" y="4550668"/>
            <a:ext cx="6375241" cy="186630"/>
          </a:xfrm>
          <a:prstGeom prst="rect">
            <a:avLst/>
          </a:prstGeom>
          <a:noFill/>
          <a:ln/>
        </p:spPr>
        <p:txBody>
          <a:bodyPr wrap="none" lIns="0" tIns="0" rIns="0" bIns="0" rtlCol="0" anchor="t"/>
          <a:lstStyle/>
          <a:p>
            <a:pPr algn="l" indent="0" marL="0">
              <a:lnSpc>
                <a:spcPct val="117000"/>
              </a:lnSpc>
              <a:buNone/>
            </a:pPr>
            <a:r>
              <a:rPr lang="en-US" sz="1050" dirty="0">
                <a:solidFill>
                  <a:srgbClr val="F2EDFB"/>
                </a:solidFill>
                <a:latin typeface="Bitter" pitchFamily="34" charset="0"/>
                <a:ea typeface="Bitter" pitchFamily="34" charset="-122"/>
                <a:cs typeface="Bitter" pitchFamily="34" charset="0"/>
              </a:rPr>
              <a:t>Test with code review, SAST, DAST, penetration testing, and sqlmap in authorized labs.</a:t>
            </a:r>
            <a:endParaRPr lang="en-US" sz="1050" dirty="0"/>
          </a:p>
        </p:txBody>
      </p:sp>
      <p:sp>
        <p:nvSpPr>
          <p:cNvPr id="12" name="Text 10"/>
          <p:cNvSpPr/>
          <p:nvPr/>
        </p:nvSpPr>
        <p:spPr>
          <a:xfrm>
            <a:off x="533387" y="4896048"/>
            <a:ext cx="5841854"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prevention blocks the bug; detection limits the time it can hide.</a:t>
            </a:r>
            <a:endParaRPr lang="en-US" sz="1400" dirty="0"/>
          </a:p>
        </p:txBody>
      </p:sp>
      <p:pic>
        <p:nvPicPr>
          <p:cNvPr id="13" name="Image 0" descr="preencoded.png">    </p:cNvPr>
          <p:cNvPicPr>
            <a:picLocks noChangeAspect="1"/>
          </p:cNvPicPr>
          <p:nvPr/>
        </p:nvPicPr>
        <p:blipFill>
          <a:blip r:embed="rId1"/>
          <a:stretch>
            <a:fillRect/>
          </a:stretch>
        </p:blipFill>
        <p:spPr>
          <a:xfrm>
            <a:off x="6908627" y="0"/>
            <a:ext cx="5283068" cy="6858000"/>
          </a:xfrm>
          <a:prstGeom prst="rect">
            <a:avLst/>
          </a:prstGeom>
        </p:spPr>
      </p:pic>
      <p:sp>
        <p:nvSpPr>
          <p:cNvPr id="14" name="Text 11"/>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15" name="Text 12"/>
          <p:cNvSpPr/>
          <p:nvPr/>
        </p:nvSpPr>
        <p:spPr>
          <a:xfrm>
            <a:off x="6058443" y="6466086"/>
            <a:ext cx="684394"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0"/>
              </a:rPr>
              <a:t>08 — DEFENSE IN DEPTH</a:t>
            </a:r>
            <a:endParaRPr lang="en-US" sz="1050" dirty="0"/>
          </a:p>
        </p:txBody>
      </p:sp>
      <p:sp>
        <p:nvSpPr>
          <p:cNvPr id="3" name="Text 1"/>
          <p:cNvSpPr/>
          <p:nvPr/>
        </p:nvSpPr>
        <p:spPr>
          <a:xfrm>
            <a:off x="609585" y="929580"/>
            <a:ext cx="10972526"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0"/>
              </a:rPr>
              <a:t>Prevention: layers that stop injection</a:t>
            </a:r>
            <a:endParaRPr lang="en-US" sz="5000" dirty="0"/>
          </a:p>
        </p:txBody>
      </p:sp>
      <p:sp>
        <p:nvSpPr>
          <p:cNvPr id="4" name="Shape 2"/>
          <p:cNvSpPr/>
          <p:nvPr/>
        </p:nvSpPr>
        <p:spPr>
          <a:xfrm>
            <a:off x="609585" y="1682055"/>
            <a:ext cx="2628834" cy="2028527"/>
          </a:xfrm>
          <a:prstGeom prst="roundRect">
            <a:avLst>
              <a:gd name="adj" fmla="val 563"/>
            </a:avLst>
          </a:prstGeom>
          <a:solidFill>
            <a:srgbClr val="17102B"/>
          </a:solidFill>
          <a:ln/>
        </p:spPr>
      </p:sp>
      <p:pic>
        <p:nvPicPr>
          <p:cNvPr id="5" name="Image 0" descr="preencoded.png">    </p:cNvPr>
          <p:cNvPicPr>
            <a:picLocks noChangeAspect="1"/>
          </p:cNvPicPr>
          <p:nvPr/>
        </p:nvPicPr>
        <p:blipFill>
          <a:blip r:embed="rId1"/>
          <a:stretch>
            <a:fillRect/>
          </a:stretch>
        </p:blipFill>
        <p:spPr>
          <a:xfrm>
            <a:off x="838179" y="1910655"/>
            <a:ext cx="355591" cy="355600"/>
          </a:xfrm>
          <a:prstGeom prst="rect">
            <a:avLst/>
          </a:prstGeom>
        </p:spPr>
      </p:pic>
      <p:sp>
        <p:nvSpPr>
          <p:cNvPr id="6" name="Text 3"/>
          <p:cNvSpPr/>
          <p:nvPr/>
        </p:nvSpPr>
        <p:spPr>
          <a:xfrm>
            <a:off x="838179" y="2387858"/>
            <a:ext cx="2171646"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01</a:t>
            </a:r>
            <a:endParaRPr lang="en-US" sz="1700" dirty="0"/>
          </a:p>
        </p:txBody>
      </p:sp>
      <p:sp>
        <p:nvSpPr>
          <p:cNvPr id="7" name="Text 4"/>
          <p:cNvSpPr/>
          <p:nvPr/>
        </p:nvSpPr>
        <p:spPr>
          <a:xfrm>
            <a:off x="838179" y="2735461"/>
            <a:ext cx="2171646"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Parameterized queries and prepared statements.</a:t>
            </a:r>
            <a:endParaRPr lang="en-US" sz="1400" dirty="0"/>
          </a:p>
        </p:txBody>
      </p:sp>
      <p:sp>
        <p:nvSpPr>
          <p:cNvPr id="8" name="Shape 5"/>
          <p:cNvSpPr/>
          <p:nvPr/>
        </p:nvSpPr>
        <p:spPr>
          <a:xfrm>
            <a:off x="3390815" y="1682055"/>
            <a:ext cx="2628834" cy="2028527"/>
          </a:xfrm>
          <a:prstGeom prst="roundRect">
            <a:avLst>
              <a:gd name="adj" fmla="val 563"/>
            </a:avLst>
          </a:prstGeom>
          <a:solidFill>
            <a:srgbClr val="17102B"/>
          </a:solidFill>
          <a:ln/>
        </p:spPr>
      </p:sp>
      <p:pic>
        <p:nvPicPr>
          <p:cNvPr id="9" name="Image 1" descr="preencoded.png">    </p:cNvPr>
          <p:cNvPicPr>
            <a:picLocks noChangeAspect="1"/>
          </p:cNvPicPr>
          <p:nvPr/>
        </p:nvPicPr>
        <p:blipFill>
          <a:blip r:embed="rId2"/>
          <a:stretch>
            <a:fillRect/>
          </a:stretch>
        </p:blipFill>
        <p:spPr>
          <a:xfrm>
            <a:off x="3619409" y="1910655"/>
            <a:ext cx="355591" cy="355600"/>
          </a:xfrm>
          <a:prstGeom prst="rect">
            <a:avLst/>
          </a:prstGeom>
        </p:spPr>
      </p:pic>
      <p:sp>
        <p:nvSpPr>
          <p:cNvPr id="10" name="Text 6"/>
          <p:cNvSpPr/>
          <p:nvPr/>
        </p:nvSpPr>
        <p:spPr>
          <a:xfrm>
            <a:off x="3619409" y="2387858"/>
            <a:ext cx="2171646"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02</a:t>
            </a:r>
            <a:endParaRPr lang="en-US" sz="1700" dirty="0"/>
          </a:p>
        </p:txBody>
      </p:sp>
      <p:sp>
        <p:nvSpPr>
          <p:cNvPr id="11" name="Text 7"/>
          <p:cNvSpPr/>
          <p:nvPr/>
        </p:nvSpPr>
        <p:spPr>
          <a:xfrm>
            <a:off x="3619409" y="2735461"/>
            <a:ext cx="2171646"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Allow-list dynamic structure such as column names.</a:t>
            </a:r>
            <a:endParaRPr lang="en-US" sz="1400" dirty="0"/>
          </a:p>
        </p:txBody>
      </p:sp>
      <p:sp>
        <p:nvSpPr>
          <p:cNvPr id="12" name="Shape 8"/>
          <p:cNvSpPr/>
          <p:nvPr/>
        </p:nvSpPr>
        <p:spPr>
          <a:xfrm>
            <a:off x="6172046" y="1682055"/>
            <a:ext cx="2628834" cy="2028527"/>
          </a:xfrm>
          <a:prstGeom prst="roundRect">
            <a:avLst>
              <a:gd name="adj" fmla="val 563"/>
            </a:avLst>
          </a:prstGeom>
          <a:solidFill>
            <a:srgbClr val="17102B"/>
          </a:solidFill>
          <a:ln/>
        </p:spPr>
      </p:sp>
      <p:pic>
        <p:nvPicPr>
          <p:cNvPr id="13" name="Image 2" descr="preencoded.png">    </p:cNvPr>
          <p:cNvPicPr>
            <a:picLocks noChangeAspect="1"/>
          </p:cNvPicPr>
          <p:nvPr/>
        </p:nvPicPr>
        <p:blipFill>
          <a:blip r:embed="rId3"/>
          <a:stretch>
            <a:fillRect/>
          </a:stretch>
        </p:blipFill>
        <p:spPr>
          <a:xfrm>
            <a:off x="6400640" y="1910655"/>
            <a:ext cx="355591" cy="355600"/>
          </a:xfrm>
          <a:prstGeom prst="rect">
            <a:avLst/>
          </a:prstGeom>
        </p:spPr>
      </p:pic>
      <p:sp>
        <p:nvSpPr>
          <p:cNvPr id="14" name="Text 9"/>
          <p:cNvSpPr/>
          <p:nvPr/>
        </p:nvSpPr>
        <p:spPr>
          <a:xfrm>
            <a:off x="6400640" y="2387858"/>
            <a:ext cx="2171646"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03</a:t>
            </a:r>
            <a:endParaRPr lang="en-US" sz="1700" dirty="0"/>
          </a:p>
        </p:txBody>
      </p:sp>
      <p:sp>
        <p:nvSpPr>
          <p:cNvPr id="15" name="Text 10"/>
          <p:cNvSpPr/>
          <p:nvPr/>
        </p:nvSpPr>
        <p:spPr>
          <a:xfrm>
            <a:off x="6400640" y="2735461"/>
            <a:ext cx="2171646"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Least-privilege database accounts.</a:t>
            </a:r>
            <a:endParaRPr lang="en-US" sz="1400" dirty="0"/>
          </a:p>
        </p:txBody>
      </p:sp>
      <p:sp>
        <p:nvSpPr>
          <p:cNvPr id="16" name="Shape 11"/>
          <p:cNvSpPr/>
          <p:nvPr/>
        </p:nvSpPr>
        <p:spPr>
          <a:xfrm>
            <a:off x="8953276" y="1682055"/>
            <a:ext cx="2628834" cy="2028527"/>
          </a:xfrm>
          <a:prstGeom prst="roundRect">
            <a:avLst>
              <a:gd name="adj" fmla="val 563"/>
            </a:avLst>
          </a:prstGeom>
          <a:solidFill>
            <a:srgbClr val="17102B"/>
          </a:solidFill>
          <a:ln/>
        </p:spPr>
      </p:sp>
      <p:pic>
        <p:nvPicPr>
          <p:cNvPr id="17" name="Image 3" descr="preencoded.png">    </p:cNvPr>
          <p:cNvPicPr>
            <a:picLocks noChangeAspect="1"/>
          </p:cNvPicPr>
          <p:nvPr/>
        </p:nvPicPr>
        <p:blipFill>
          <a:blip r:embed="rId4"/>
          <a:stretch>
            <a:fillRect/>
          </a:stretch>
        </p:blipFill>
        <p:spPr>
          <a:xfrm>
            <a:off x="9181870" y="1910655"/>
            <a:ext cx="355591" cy="355600"/>
          </a:xfrm>
          <a:prstGeom prst="rect">
            <a:avLst/>
          </a:prstGeom>
        </p:spPr>
      </p:pic>
      <p:sp>
        <p:nvSpPr>
          <p:cNvPr id="18" name="Text 12"/>
          <p:cNvSpPr/>
          <p:nvPr/>
        </p:nvSpPr>
        <p:spPr>
          <a:xfrm>
            <a:off x="9181870" y="2387858"/>
            <a:ext cx="2171646"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0"/>
              </a:rPr>
              <a:t>04</a:t>
            </a:r>
            <a:endParaRPr lang="en-US" sz="1700" dirty="0"/>
          </a:p>
        </p:txBody>
      </p:sp>
      <p:sp>
        <p:nvSpPr>
          <p:cNvPr id="19" name="Text 13"/>
          <p:cNvSpPr/>
          <p:nvPr/>
        </p:nvSpPr>
        <p:spPr>
          <a:xfrm>
            <a:off x="9181870" y="2735461"/>
            <a:ext cx="2171646"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Safe ORM use, generic errors, WAF backstop, patching and testing.</a:t>
            </a:r>
            <a:endParaRPr lang="en-US" sz="1400" dirty="0"/>
          </a:p>
        </p:txBody>
      </p:sp>
      <p:sp>
        <p:nvSpPr>
          <p:cNvPr id="20" name="Shape 14"/>
          <p:cNvSpPr/>
          <p:nvPr/>
        </p:nvSpPr>
        <p:spPr>
          <a:xfrm>
            <a:off x="609585" y="3869333"/>
            <a:ext cx="5333867" cy="2010370"/>
          </a:xfrm>
          <a:prstGeom prst="roundRect">
            <a:avLst>
              <a:gd name="adj" fmla="val 569"/>
            </a:avLst>
          </a:prstGeom>
          <a:noFill/>
          <a:ln w="19050">
            <a:solidFill>
              <a:srgbClr val="302944"/>
            </a:solidFill>
            <a:prstDash val="solid"/>
          </a:ln>
        </p:spPr>
      </p:sp>
      <p:sp>
        <p:nvSpPr>
          <p:cNvPr id="21" name="Text 15"/>
          <p:cNvSpPr/>
          <p:nvPr/>
        </p:nvSpPr>
        <p:spPr>
          <a:xfrm>
            <a:off x="831829" y="4112220"/>
            <a:ext cx="4889378"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0"/>
              </a:rPr>
              <a:t>Vulnerable</a:t>
            </a:r>
            <a:endParaRPr lang="en-US" sz="2000" dirty="0"/>
          </a:p>
        </p:txBody>
      </p:sp>
      <p:sp>
        <p:nvSpPr>
          <p:cNvPr id="22" name="Shape 16"/>
          <p:cNvSpPr/>
          <p:nvPr/>
        </p:nvSpPr>
        <p:spPr>
          <a:xfrm>
            <a:off x="831829" y="4571008"/>
            <a:ext cx="4889378" cy="640060"/>
          </a:xfrm>
          <a:prstGeom prst="roundRect">
            <a:avLst>
              <a:gd name="adj" fmla="val 1786"/>
            </a:avLst>
          </a:prstGeom>
          <a:solidFill>
            <a:srgbClr val="241D38"/>
          </a:solidFill>
          <a:ln/>
        </p:spPr>
      </p:sp>
      <p:sp>
        <p:nvSpPr>
          <p:cNvPr id="23" name="Text 17"/>
          <p:cNvSpPr/>
          <p:nvPr/>
        </p:nvSpPr>
        <p:spPr>
          <a:xfrm>
            <a:off x="1045144" y="4749125"/>
            <a:ext cx="4898307" cy="284460"/>
          </a:xfrm>
          <a:prstGeom prst="rect">
            <a:avLst/>
          </a:prstGeom>
          <a:noFill/>
          <a:ln/>
        </p:spPr>
        <p:txBody>
          <a:bodyPr wrap="none" lIns="0" tIns="0" rIns="0" bIns="0" rtlCol="0" anchor="t"/>
          <a:lstStyle/>
          <a:p>
            <a:pPr algn="l" indent="0" marL="0">
              <a:lnSpc>
                <a:spcPct val="133000"/>
              </a:lnSpc>
              <a:buNone/>
            </a:pPr>
            <a:r>
              <a:rPr lang="en-US" sz="1400" dirty="0">
                <a:solidFill>
                  <a:srgbClr val="E6EDF3"/>
                </a:solidFill>
                <a:latin typeface="Consolas" pitchFamily="34" charset="0"/>
                <a:ea typeface="Consolas" pitchFamily="34" charset="-122"/>
                <a:cs typeface="Consolas" pitchFamily="34" charset="0"/>
              </a:rPr>
              <a:t>query = "SELECT ... '" + user + "'"</a:t>
            </a:r>
            <a:endParaRPr lang="en-US" sz="1400" dirty="0"/>
          </a:p>
        </p:txBody>
      </p:sp>
      <p:sp>
        <p:nvSpPr>
          <p:cNvPr id="24" name="Shape 18"/>
          <p:cNvSpPr/>
          <p:nvPr/>
        </p:nvSpPr>
        <p:spPr>
          <a:xfrm>
            <a:off x="6248244" y="3869333"/>
            <a:ext cx="5333867" cy="2010370"/>
          </a:xfrm>
          <a:prstGeom prst="rect">
            <a:avLst/>
          </a:prstGeom>
          <a:solidFill>
            <a:srgbClr val="4A3670"/>
          </a:solidFill>
          <a:ln/>
        </p:spPr>
      </p:sp>
      <p:sp>
        <p:nvSpPr>
          <p:cNvPr id="25" name="Text 19"/>
          <p:cNvSpPr/>
          <p:nvPr/>
        </p:nvSpPr>
        <p:spPr>
          <a:xfrm>
            <a:off x="6451439" y="4093170"/>
            <a:ext cx="4927477"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Fixed</a:t>
            </a:r>
            <a:endParaRPr lang="en-US" sz="2000" dirty="0"/>
          </a:p>
        </p:txBody>
      </p:sp>
      <p:sp>
        <p:nvSpPr>
          <p:cNvPr id="26" name="Shape 20"/>
          <p:cNvSpPr/>
          <p:nvPr/>
        </p:nvSpPr>
        <p:spPr>
          <a:xfrm>
            <a:off x="6451439" y="4551958"/>
            <a:ext cx="4927477" cy="924520"/>
          </a:xfrm>
          <a:prstGeom prst="roundRect">
            <a:avLst>
              <a:gd name="adj" fmla="val 1236"/>
            </a:avLst>
          </a:prstGeom>
          <a:solidFill>
            <a:srgbClr val="241D38"/>
          </a:solidFill>
          <a:ln/>
        </p:spPr>
      </p:sp>
      <p:sp>
        <p:nvSpPr>
          <p:cNvPr id="27" name="Text 21"/>
          <p:cNvSpPr/>
          <p:nvPr/>
        </p:nvSpPr>
        <p:spPr>
          <a:xfrm>
            <a:off x="6664754" y="4730075"/>
            <a:ext cx="4500847" cy="56892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E6EDF3"/>
                </a:solidFill>
                <a:latin typeface="Consolas" pitchFamily="34" charset="0"/>
                <a:ea typeface="Consolas" pitchFamily="34" charset="-122"/>
                <a:cs typeface="Consolas" pitchFamily="34" charset="0"/>
              </a:rPr>
              <a:t>query = "SELECT ... ?"</a:t>
            </a:r>
            <a:endParaRPr lang="en-US" sz="1400" dirty="0"/>
          </a:p>
          <a:p>
            <a:pPr algn="l" indent="0" marL="0">
              <a:lnSpc>
                <a:spcPct val="133000"/>
              </a:lnSpc>
              <a:buNone/>
            </a:pPr>
            <a:r>
              <a:rPr lang="en-US" sz="1400" dirty="0">
                <a:solidFill>
                  <a:srgbClr val="E6EDF3"/>
                </a:solidFill>
                <a:latin typeface="Consolas" pitchFamily="34" charset="0"/>
                <a:ea typeface="Consolas" pitchFamily="34" charset="-122"/>
                <a:cs typeface="Consolas" pitchFamily="34" charset="0"/>
              </a:rPr>
              <a:t>db.execute(query, [user])</a:t>
            </a:r>
            <a:endParaRPr lang="en-US" sz="1400" dirty="0"/>
          </a:p>
        </p:txBody>
      </p:sp>
      <p:sp>
        <p:nvSpPr>
          <p:cNvPr id="28" name="Text 22"/>
          <p:cNvSpPr/>
          <p:nvPr/>
        </p:nvSpPr>
        <p:spPr>
          <a:xfrm>
            <a:off x="609585" y="6038453"/>
            <a:ext cx="11582110" cy="248841"/>
          </a:xfrm>
          <a:prstGeom prst="rect">
            <a:avLst/>
          </a:prstGeom>
          <a:noFill/>
          <a:ln/>
        </p:spPr>
        <p:txBody>
          <a:bodyPr wrap="none" lIns="0" tIns="0" rIns="0" bIns="0" rtlCol="0" anchor="t"/>
          <a:lstStyle/>
          <a:p>
            <a:pPr algn="l" indent="0" marL="0">
              <a:lnSpc>
                <a:spcPct val="117000"/>
              </a:lnSpc>
              <a:buNone/>
            </a:pPr>
            <a:r>
              <a:rPr lang="en-US" sz="1400" dirty="0">
                <a:solidFill>
                  <a:srgbClr val="B79CF5"/>
                </a:solidFill>
                <a:latin typeface="Bitter" pitchFamily="34" charset="0"/>
                <a:ea typeface="Bitter" pitchFamily="34" charset="-122"/>
                <a:cs typeface="Bitter" pitchFamily="34" charset="0"/>
              </a:rPr>
              <a:t>Key takeaway:</a:t>
            </a:r>
            <a:pPr algn="l" indent="0" marL="0">
              <a:lnSpc>
                <a:spcPct val="117000"/>
              </a:lnSpc>
              <a:buNone/>
            </a:pPr>
            <a:r>
              <a:rPr lang="en-US" sz="1400" dirty="0">
                <a:solidFill>
                  <a:srgbClr val="F2EDFB"/>
                </a:solidFill>
                <a:latin typeface="Bitter" pitchFamily="34" charset="0"/>
                <a:ea typeface="Bitter" pitchFamily="34" charset="-122"/>
                <a:cs typeface="Bitter" pitchFamily="34" charset="0"/>
              </a:rPr>
              <a:t> make the safe path the easiest path, then reduce what a failure can reach.</a:t>
            </a:r>
            <a:endParaRPr lang="en-US" sz="1400" dirty="0"/>
          </a:p>
        </p:txBody>
      </p:sp>
      <p:sp>
        <p:nvSpPr>
          <p:cNvPr id="29" name="Text 23"/>
          <p:cNvSpPr/>
          <p:nvPr/>
        </p:nvSpPr>
        <p:spPr>
          <a:xfrm>
            <a:off x="177895" y="6466086"/>
            <a:ext cx="342435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SQL Injection: When Input Becomes Instructions</a:t>
            </a:r>
            <a:endParaRPr lang="en-US" sz="1000" dirty="0"/>
          </a:p>
        </p:txBody>
      </p:sp>
      <p:sp>
        <p:nvSpPr>
          <p:cNvPr id="30" name="Text 24"/>
          <p:cNvSpPr/>
          <p:nvPr/>
        </p:nvSpPr>
        <p:spPr>
          <a:xfrm>
            <a:off x="11940975" y="6466086"/>
            <a:ext cx="25072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1546423"/>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FFFFFF"/>
                </a:solidFill>
                <a:latin typeface="Bitter" pitchFamily="34" charset="0"/>
                <a:ea typeface="Bitter" pitchFamily="34" charset="-122"/>
                <a:cs typeface="Bitter" pitchFamily="34" charset="0"/>
              </a:rPr>
              <a:t>09 — CONTINUE THE PRACTICE</a:t>
            </a:r>
            <a:endParaRPr lang="en-US" sz="1050" dirty="0"/>
          </a:p>
        </p:txBody>
      </p:sp>
      <p:sp>
        <p:nvSpPr>
          <p:cNvPr id="3" name="Text 1"/>
          <p:cNvSpPr/>
          <p:nvPr/>
        </p:nvSpPr>
        <p:spPr>
          <a:xfrm>
            <a:off x="609585" y="1866404"/>
            <a:ext cx="10972526" cy="635000"/>
          </a:xfrm>
          <a:prstGeom prst="rect">
            <a:avLst/>
          </a:prstGeom>
          <a:noFill/>
          <a:ln/>
        </p:spPr>
        <p:txBody>
          <a:bodyPr wrap="none" lIns="0" tIns="0" rIns="0" bIns="0" rtlCol="0" anchor="t"/>
          <a:lstStyle/>
          <a:p>
            <a:pPr algn="l" indent="0" marL="0">
              <a:lnSpc>
                <a:spcPct val="83000"/>
              </a:lnSpc>
              <a:buNone/>
            </a:pPr>
            <a:r>
              <a:rPr lang="en-US" sz="5000" dirty="0">
                <a:solidFill>
                  <a:srgbClr val="FFFFFF"/>
                </a:solidFill>
                <a:latin typeface="Jost" pitchFamily="34" charset="0"/>
                <a:ea typeface="Jost" pitchFamily="34" charset="-122"/>
                <a:cs typeface="Jost" pitchFamily="34" charset="0"/>
              </a:rPr>
              <a:t>Where to go next</a:t>
            </a:r>
            <a:endParaRPr lang="en-US" sz="5000" dirty="0"/>
          </a:p>
        </p:txBody>
      </p:sp>
      <p:sp>
        <p:nvSpPr>
          <p:cNvPr id="4" name="Shape 2"/>
          <p:cNvSpPr/>
          <p:nvPr/>
        </p:nvSpPr>
        <p:spPr>
          <a:xfrm>
            <a:off x="609585" y="2618879"/>
            <a:ext cx="5333867" cy="1752997"/>
          </a:xfrm>
          <a:prstGeom prst="roundRect">
            <a:avLst>
              <a:gd name="adj" fmla="val 652"/>
            </a:avLst>
          </a:prstGeom>
          <a:noFill/>
          <a:ln w="19050">
            <a:solidFill>
              <a:srgbClr val="302944"/>
            </a:solidFill>
            <a:prstDash val="solid"/>
          </a:ln>
        </p:spPr>
      </p:sp>
      <p:sp>
        <p:nvSpPr>
          <p:cNvPr id="5" name="Text 3"/>
          <p:cNvSpPr/>
          <p:nvPr/>
        </p:nvSpPr>
        <p:spPr>
          <a:xfrm>
            <a:off x="857229" y="2887166"/>
            <a:ext cx="4838579"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Start here</a:t>
            </a:r>
            <a:endParaRPr lang="en-US" sz="2000" dirty="0"/>
          </a:p>
        </p:txBody>
      </p:sp>
      <p:sp>
        <p:nvSpPr>
          <p:cNvPr id="6" name="Text 4"/>
          <p:cNvSpPr/>
          <p:nvPr/>
        </p:nvSpPr>
        <p:spPr>
          <a:xfrm>
            <a:off x="857229" y="3272929"/>
            <a:ext cx="4838579" cy="851297"/>
          </a:xfrm>
          <a:prstGeom prst="rect">
            <a:avLst/>
          </a:prstGeom>
          <a:noFill/>
          <a:ln/>
        </p:spPr>
        <p:txBody>
          <a:bodyPr wrap="square" lIns="0" tIns="0" rIns="0" bIns="0" rtlCol="0" anchor="t"/>
          <a:lstStyle/>
          <a:p>
            <a:pPr algn="l" indent="0" marL="0">
              <a:lnSpc>
                <a:spcPct val="117000"/>
              </a:lnSpc>
              <a:spcAft>
                <a:spcPts val="800"/>
              </a:spcAft>
              <a:buNone/>
            </a:pPr>
            <a:r>
              <a:rPr lang="en-US" sz="1400" dirty="0">
                <a:solidFill>
                  <a:srgbClr val="FFFFFF"/>
                </a:solidFill>
                <a:latin typeface="Bitter" pitchFamily="34" charset="0"/>
                <a:ea typeface="Bitter" pitchFamily="34" charset="-122"/>
                <a:cs typeface="Bitter" pitchFamily="34" charset="0"/>
              </a:rPr>
              <a:t>OWASP Top 10: Injection is A03 in the 2021 list.</a:t>
            </a:r>
            <a:endParaRPr lang="en-US" sz="1400" dirty="0"/>
          </a:p>
          <a:p>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OWASP Cheat Sheet Series · PortSwigger Web Security Academy</a:t>
            </a:r>
            <a:endParaRPr lang="en-US" sz="1400" dirty="0"/>
          </a:p>
        </p:txBody>
      </p:sp>
      <p:sp>
        <p:nvSpPr>
          <p:cNvPr id="7" name="Shape 5"/>
          <p:cNvSpPr/>
          <p:nvPr/>
        </p:nvSpPr>
        <p:spPr>
          <a:xfrm>
            <a:off x="6248244" y="2618879"/>
            <a:ext cx="5333867" cy="1752997"/>
          </a:xfrm>
          <a:prstGeom prst="rect">
            <a:avLst/>
          </a:prstGeom>
          <a:solidFill>
            <a:srgbClr val="4A3670"/>
          </a:solidFill>
          <a:ln/>
        </p:spPr>
      </p:sp>
      <p:sp>
        <p:nvSpPr>
          <p:cNvPr id="8" name="Text 6"/>
          <p:cNvSpPr/>
          <p:nvPr/>
        </p:nvSpPr>
        <p:spPr>
          <a:xfrm>
            <a:off x="6476838" y="2868116"/>
            <a:ext cx="4876678"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0"/>
              </a:rPr>
              <a:t>Practice safely</a:t>
            </a:r>
            <a:endParaRPr lang="en-US" sz="2000" dirty="0"/>
          </a:p>
        </p:txBody>
      </p:sp>
      <p:sp>
        <p:nvSpPr>
          <p:cNvPr id="9" name="Text 7"/>
          <p:cNvSpPr/>
          <p:nvPr/>
        </p:nvSpPr>
        <p:spPr>
          <a:xfrm>
            <a:off x="6476838" y="3253879"/>
            <a:ext cx="4876678" cy="851297"/>
          </a:xfrm>
          <a:prstGeom prst="rect">
            <a:avLst/>
          </a:prstGeom>
          <a:noFill/>
          <a:ln/>
        </p:spPr>
        <p:txBody>
          <a:bodyPr wrap="square" lIns="0" tIns="0" rIns="0" bIns="0" rtlCol="0" anchor="t"/>
          <a:lstStyle/>
          <a:p>
            <a:pPr algn="l" indent="0" marL="0">
              <a:lnSpc>
                <a:spcPct val="117000"/>
              </a:lnSpc>
              <a:spcAft>
                <a:spcPts val="800"/>
              </a:spcAft>
              <a:buNone/>
            </a:pPr>
            <a:r>
              <a:rPr lang="en-US" sz="1400" dirty="0">
                <a:solidFill>
                  <a:srgbClr val="FFFFFF"/>
                </a:solidFill>
                <a:latin typeface="Bitter" pitchFamily="34" charset="0"/>
                <a:ea typeface="Bitter" pitchFamily="34" charset="-122"/>
                <a:cs typeface="Bitter" pitchFamily="34" charset="0"/>
              </a:rPr>
              <a:t>OWASP Juice Shop · DVWA</a:t>
            </a:r>
            <a:endParaRPr lang="en-US" sz="1400" dirty="0"/>
          </a:p>
          <a:p>
            <a:pPr algn="l" indent="0" marL="0">
              <a:lnSpc>
                <a:spcPct val="117000"/>
              </a:lnSpc>
              <a:buNone/>
            </a:pPr>
            <a:r>
              <a:rPr lang="en-US" sz="1400" dirty="0">
                <a:solidFill>
                  <a:srgbClr val="FFFFFF"/>
                </a:solidFill>
                <a:latin typeface="Bitter" pitchFamily="34" charset="0"/>
                <a:ea typeface="Bitter" pitchFamily="34" charset="-122"/>
                <a:cs typeface="Bitter" pitchFamily="34" charset="0"/>
              </a:rPr>
              <a:t>Next: NoSQL and ORM injection, API security, secure-by-design pipelines, DevSecOps.</a:t>
            </a:r>
            <a:endParaRPr lang="en-US" sz="1400" dirty="0"/>
          </a:p>
        </p:txBody>
      </p:sp>
      <p:sp>
        <p:nvSpPr>
          <p:cNvPr id="10" name="Text 8"/>
          <p:cNvSpPr/>
          <p:nvPr/>
        </p:nvSpPr>
        <p:spPr>
          <a:xfrm>
            <a:off x="609585" y="5402362"/>
            <a:ext cx="10972526" cy="939800"/>
          </a:xfrm>
          <a:prstGeom prst="rect">
            <a:avLst/>
          </a:prstGeom>
          <a:noFill/>
          <a:ln/>
        </p:spPr>
        <p:txBody>
          <a:bodyPr wrap="none" lIns="0" tIns="0" rIns="0" bIns="0" rtlCol="0" anchor="t"/>
          <a:lstStyle/>
          <a:p>
            <a:pPr algn="l" indent="0" marL="0">
              <a:lnSpc>
                <a:spcPct val="83000"/>
              </a:lnSpc>
              <a:buNone/>
            </a:pPr>
            <a:r>
              <a:rPr lang="en-US" sz="7400" dirty="0">
                <a:solidFill>
                  <a:srgbClr val="FFFFFF"/>
                </a:solidFill>
                <a:latin typeface="Jost" pitchFamily="34" charset="0"/>
                <a:ea typeface="Jost" pitchFamily="34" charset="-122"/>
                <a:cs typeface="Jost" pitchFamily="34" charset="0"/>
              </a:rPr>
              <a:t>Questions?</a:t>
            </a:r>
            <a:endParaRPr lang="en-US" sz="7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2026-10-28T18:14:11Z</dcterms:created>
  <dcterms:modified xsi:type="dcterms:W3CDTF">2026-10-28T18:14:11Z</dcterms:modified>
</cp:coreProperties>
</file>